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94" r:id="rId4"/>
    <p:sldId id="293" r:id="rId5"/>
    <p:sldId id="295" r:id="rId6"/>
    <p:sldId id="257" r:id="rId7"/>
    <p:sldId id="296" r:id="rId8"/>
    <p:sldId id="258" r:id="rId9"/>
    <p:sldId id="309" r:id="rId10"/>
    <p:sldId id="310" r:id="rId11"/>
    <p:sldId id="297" r:id="rId12"/>
    <p:sldId id="268" r:id="rId13"/>
    <p:sldId id="312" r:id="rId14"/>
    <p:sldId id="313" r:id="rId15"/>
    <p:sldId id="298" r:id="rId16"/>
    <p:sldId id="314" r:id="rId17"/>
    <p:sldId id="325" r:id="rId18"/>
    <p:sldId id="315" r:id="rId19"/>
    <p:sldId id="316" r:id="rId20"/>
    <p:sldId id="317" r:id="rId21"/>
    <p:sldId id="326" r:id="rId22"/>
    <p:sldId id="318" r:id="rId23"/>
    <p:sldId id="319" r:id="rId24"/>
    <p:sldId id="327" r:id="rId25"/>
    <p:sldId id="320" r:id="rId26"/>
    <p:sldId id="321" r:id="rId27"/>
    <p:sldId id="322" r:id="rId28"/>
    <p:sldId id="323" r:id="rId29"/>
    <p:sldId id="328" r:id="rId30"/>
    <p:sldId id="324" r:id="rId31"/>
    <p:sldId id="330" r:id="rId32"/>
    <p:sldId id="331" r:id="rId33"/>
    <p:sldId id="270" r:id="rId34"/>
    <p:sldId id="291" r:id="rId35"/>
    <p:sldId id="332" r:id="rId36"/>
    <p:sldId id="333" r:id="rId37"/>
    <p:sldId id="335" r:id="rId38"/>
    <p:sldId id="278" r:id="rId39"/>
    <p:sldId id="272" r:id="rId40"/>
    <p:sldId id="336" r:id="rId41"/>
    <p:sldId id="337" r:id="rId42"/>
    <p:sldId id="338" r:id="rId43"/>
    <p:sldId id="339" r:id="rId44"/>
    <p:sldId id="340" r:id="rId45"/>
    <p:sldId id="284" r:id="rId46"/>
    <p:sldId id="341" r:id="rId47"/>
    <p:sldId id="342" r:id="rId48"/>
    <p:sldId id="343" r:id="rId49"/>
    <p:sldId id="344" r:id="rId50"/>
    <p:sldId id="345" r:id="rId51"/>
    <p:sldId id="346" r:id="rId52"/>
    <p:sldId id="285" r:id="rId53"/>
    <p:sldId id="347" r:id="rId54"/>
    <p:sldId id="348" r:id="rId55"/>
    <p:sldId id="349" r:id="rId56"/>
    <p:sldId id="350" r:id="rId57"/>
    <p:sldId id="351" r:id="rId58"/>
    <p:sldId id="352" r:id="rId59"/>
    <p:sldId id="353" r:id="rId60"/>
    <p:sldId id="354" r:id="rId61"/>
    <p:sldId id="355" r:id="rId6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2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F21861-8526-585D-03DE-CADDF9EF8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999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228DAAE-B1F7-F9AF-7586-83D591F48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62" indent="0" algn="ctr">
              <a:buNone/>
              <a:defRPr sz="2000"/>
            </a:lvl2pPr>
            <a:lvl3pPr marL="914323" indent="0" algn="ctr">
              <a:buNone/>
              <a:defRPr sz="1800"/>
            </a:lvl3pPr>
            <a:lvl4pPr marL="1371486" indent="0" algn="ctr">
              <a:buNone/>
              <a:defRPr sz="1600"/>
            </a:lvl4pPr>
            <a:lvl5pPr marL="1828647" indent="0" algn="ctr">
              <a:buNone/>
              <a:defRPr sz="1600"/>
            </a:lvl5pPr>
            <a:lvl6pPr marL="2285808" indent="0" algn="ctr">
              <a:buNone/>
              <a:defRPr sz="1600"/>
            </a:lvl6pPr>
            <a:lvl7pPr marL="2742970" indent="0" algn="ctr">
              <a:buNone/>
              <a:defRPr sz="1600"/>
            </a:lvl7pPr>
            <a:lvl8pPr marL="3200132" indent="0" algn="ctr">
              <a:buNone/>
              <a:defRPr sz="1600"/>
            </a:lvl8pPr>
            <a:lvl9pPr marL="3657294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D1D043-8668-726F-1F87-957304D02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5AF6EB-6F8B-D1CA-9027-C918F52F2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C5C754-3211-7E63-F116-DBAF652FC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9582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D2537-FDF1-453A-00A6-AB7A8A51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4731FF-D1B4-E28A-0035-C5E78E3C7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FD300F-1196-230B-B950-9D5DA831D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CA92A9-DE9F-0527-4A10-46D769D2E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22B456-623B-839A-1A2B-3B72CE206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923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B17709-83EC-F444-70B4-F5774484F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/>
          <a:lstStyle>
            <a:lvl1pPr>
              <a:defRPr sz="5999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BE38CF-41EC-C7EA-ABF3-BAB964145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3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62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23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48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64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80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97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13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29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FBA195-F31B-1C02-2FA7-19CC64AED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F77D00-99E4-8C2D-3BD4-822AB61F1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63A5C6-1F95-49C3-1123-A6E98D4B3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503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6D364-E357-645C-8F27-FEA5EEFD5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3CAE04-3257-A83C-4EF6-075E240A7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B78C77-6405-7AD9-FFB1-72A951CF7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4CA59E-3BD4-FCD0-FD18-BC8081D02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8521A4-E28C-472A-1FA3-B6FB6DB2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1BAEB1-693C-51AC-579C-9831F0FDB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028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EA5D9-C150-A74A-A119-3F4827C65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217F4C-5D5F-27A7-DB06-BA120BC23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2" indent="0">
              <a:buNone/>
              <a:defRPr sz="2000" b="1"/>
            </a:lvl2pPr>
            <a:lvl3pPr marL="914323" indent="0">
              <a:buNone/>
              <a:defRPr sz="1800" b="1"/>
            </a:lvl3pPr>
            <a:lvl4pPr marL="1371486" indent="0">
              <a:buNone/>
              <a:defRPr sz="1600" b="1"/>
            </a:lvl4pPr>
            <a:lvl5pPr marL="1828647" indent="0">
              <a:buNone/>
              <a:defRPr sz="1600" b="1"/>
            </a:lvl5pPr>
            <a:lvl6pPr marL="2285808" indent="0">
              <a:buNone/>
              <a:defRPr sz="1600" b="1"/>
            </a:lvl6pPr>
            <a:lvl7pPr marL="2742970" indent="0">
              <a:buNone/>
              <a:defRPr sz="1600" b="1"/>
            </a:lvl7pPr>
            <a:lvl8pPr marL="3200132" indent="0">
              <a:buNone/>
              <a:defRPr sz="1600" b="1"/>
            </a:lvl8pPr>
            <a:lvl9pPr marL="3657294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6F0132-00A7-3F10-B8F2-D202D819F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6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A6B2C7-375B-C1F1-39D7-3F125480DC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2" indent="0">
              <a:buNone/>
              <a:defRPr sz="2000" b="1"/>
            </a:lvl2pPr>
            <a:lvl3pPr marL="914323" indent="0">
              <a:buNone/>
              <a:defRPr sz="1800" b="1"/>
            </a:lvl3pPr>
            <a:lvl4pPr marL="1371486" indent="0">
              <a:buNone/>
              <a:defRPr sz="1600" b="1"/>
            </a:lvl4pPr>
            <a:lvl5pPr marL="1828647" indent="0">
              <a:buNone/>
              <a:defRPr sz="1600" b="1"/>
            </a:lvl5pPr>
            <a:lvl6pPr marL="2285808" indent="0">
              <a:buNone/>
              <a:defRPr sz="1600" b="1"/>
            </a:lvl6pPr>
            <a:lvl7pPr marL="2742970" indent="0">
              <a:buNone/>
              <a:defRPr sz="1600" b="1"/>
            </a:lvl7pPr>
            <a:lvl8pPr marL="3200132" indent="0">
              <a:buNone/>
              <a:defRPr sz="1600" b="1"/>
            </a:lvl8pPr>
            <a:lvl9pPr marL="3657294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F66212C-E963-D002-2DAF-336D27E03A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6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855FB34-6837-642A-0D2A-743066772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8F40523-E5A5-7661-433E-A776ACABE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3F5FFB7-6DD4-D436-5C8E-BD48A629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9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65B694-0D8F-8FC9-209B-ADB44BED0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A33A55-E061-72C8-9C5A-A259B9175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C8C53A-E271-1F08-6D19-4F93683D8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CAADAA-FC80-1B27-B4AE-B39BAAB8D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897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71B5540-F77D-7D20-40B7-1B3374F7A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F915BA5-42D2-1ED7-3D23-7FD5A1E21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48331D-951D-28E9-30DB-25D5539A7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5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7ED9D-49B1-FE7D-2234-0ED1CCFC7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D344D2-E992-6944-C46A-D7316613C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0" y="987427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430E3A-D5F8-355D-C143-5D7F2BF05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62" indent="0">
              <a:buNone/>
              <a:defRPr sz="1400"/>
            </a:lvl2pPr>
            <a:lvl3pPr marL="914323" indent="0">
              <a:buNone/>
              <a:defRPr sz="1200"/>
            </a:lvl3pPr>
            <a:lvl4pPr marL="1371486" indent="0">
              <a:buNone/>
              <a:defRPr sz="1000"/>
            </a:lvl4pPr>
            <a:lvl5pPr marL="1828647" indent="0">
              <a:buNone/>
              <a:defRPr sz="1000"/>
            </a:lvl5pPr>
            <a:lvl6pPr marL="2285808" indent="0">
              <a:buNone/>
              <a:defRPr sz="1000"/>
            </a:lvl6pPr>
            <a:lvl7pPr marL="2742970" indent="0">
              <a:buNone/>
              <a:defRPr sz="1000"/>
            </a:lvl7pPr>
            <a:lvl8pPr marL="3200132" indent="0">
              <a:buNone/>
              <a:defRPr sz="1000"/>
            </a:lvl8pPr>
            <a:lvl9pPr marL="3657294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2DEFE8-8ECC-2332-56D4-E6A610A3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5AF100-28F8-202C-704B-3C7D91B6E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D82251-81F6-9417-E047-DF0F8DA2C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945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10CA54-86F3-C566-FFC7-A65128435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924619-6371-7A70-D887-D3E843F6D3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0" y="987427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62" indent="0">
              <a:buNone/>
              <a:defRPr sz="2800"/>
            </a:lvl2pPr>
            <a:lvl3pPr marL="914323" indent="0">
              <a:buNone/>
              <a:defRPr sz="2400"/>
            </a:lvl3pPr>
            <a:lvl4pPr marL="1371486" indent="0">
              <a:buNone/>
              <a:defRPr sz="2000"/>
            </a:lvl4pPr>
            <a:lvl5pPr marL="1828647" indent="0">
              <a:buNone/>
              <a:defRPr sz="2000"/>
            </a:lvl5pPr>
            <a:lvl6pPr marL="2285808" indent="0">
              <a:buNone/>
              <a:defRPr sz="2000"/>
            </a:lvl6pPr>
            <a:lvl7pPr marL="2742970" indent="0">
              <a:buNone/>
              <a:defRPr sz="2000"/>
            </a:lvl7pPr>
            <a:lvl8pPr marL="3200132" indent="0">
              <a:buNone/>
              <a:defRPr sz="2000"/>
            </a:lvl8pPr>
            <a:lvl9pPr marL="3657294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36DFFD-389E-1B8C-7FB3-6973B3B4C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62" indent="0">
              <a:buNone/>
              <a:defRPr sz="1400"/>
            </a:lvl2pPr>
            <a:lvl3pPr marL="914323" indent="0">
              <a:buNone/>
              <a:defRPr sz="1200"/>
            </a:lvl3pPr>
            <a:lvl4pPr marL="1371486" indent="0">
              <a:buNone/>
              <a:defRPr sz="1000"/>
            </a:lvl4pPr>
            <a:lvl5pPr marL="1828647" indent="0">
              <a:buNone/>
              <a:defRPr sz="1000"/>
            </a:lvl5pPr>
            <a:lvl6pPr marL="2285808" indent="0">
              <a:buNone/>
              <a:defRPr sz="1000"/>
            </a:lvl6pPr>
            <a:lvl7pPr marL="2742970" indent="0">
              <a:buNone/>
              <a:defRPr sz="1000"/>
            </a:lvl7pPr>
            <a:lvl8pPr marL="3200132" indent="0">
              <a:buNone/>
              <a:defRPr sz="1000"/>
            </a:lvl8pPr>
            <a:lvl9pPr marL="3657294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533DBE-CA18-3BA4-7564-BE58D5EE1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0BCE26-19D9-CC68-90F3-AF4219A99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8724A7-45CE-48B8-94ED-BE4883ACE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367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A137B-BE06-798C-EBAA-332863192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763503-ED2E-2CCE-09B9-49F828E3E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3ADCF0-B803-0B3B-1727-0FBF0E649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77E53E-82D6-0DEA-B391-C30014E23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29870C-C377-2B98-1AEB-ED2254608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791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AA7C77D-0FE3-8005-4897-F4CFE1C046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CFC691-83BC-D698-23A6-3901040E8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415A83-178A-A870-50FF-AAEA75633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1FD495-F7D9-F34F-8046-C571CC6F2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51AFF7-3DD2-899E-70AA-89D7E93DA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362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DA95133-7866-C996-E5F1-B6392DB65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E611CD-A3EB-E17C-DE4F-C8C89DF5C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27D74D-A800-4736-732D-B1D7D050C9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8FA53-58D3-44C0-B5DC-E4234B860599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791784-901A-FC5B-C944-6CB18F4B88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1B831E-B7EC-FEAA-3ED2-89C61856A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760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23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2" indent="-228582" algn="l" defTabSz="914323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43" indent="-228582" algn="l" defTabSz="9143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04" indent="-228582" algn="l" defTabSz="9143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66" indent="-228582" algn="l" defTabSz="9143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28" indent="-228582" algn="l" defTabSz="9143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90" indent="-228582" algn="l" defTabSz="9143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52" indent="-228582" algn="l" defTabSz="9143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13" indent="-228582" algn="l" defTabSz="9143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74" indent="-228582" algn="l" defTabSz="9143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2" algn="l" defTabSz="9143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3" algn="l" defTabSz="9143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6" algn="l" defTabSz="9143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47" algn="l" defTabSz="9143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08" algn="l" defTabSz="9143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70" algn="l" defTabSz="9143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32" algn="l" defTabSz="9143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94" algn="l" defTabSz="9143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dart.fss.or.kr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4CCF7-DCBB-504A-6B1F-169DE23B0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315" y="1128848"/>
            <a:ext cx="10071370" cy="2387600"/>
          </a:xfrm>
        </p:spPr>
        <p:txBody>
          <a:bodyPr anchor="ctr">
            <a:normAutofit/>
          </a:bodyPr>
          <a:lstStyle/>
          <a:p>
            <a:r>
              <a:rPr lang="ko-KR" altLang="en-US" sz="4800"/>
              <a:t>고용구조와 재무성과 데이터 분석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7AF5C51-B5F2-F35E-02A1-AA12855A41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/>
          <a:lstStyle/>
          <a:p>
            <a:r>
              <a:rPr lang="en-US" altLang="ko-KR"/>
              <a:t>202344083 </a:t>
            </a:r>
            <a:r>
              <a:rPr lang="ko-KR" altLang="en-US"/>
              <a:t>남동관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002FDA-2E33-2FC0-6923-17E7EAD867A8}"/>
              </a:ext>
            </a:extLst>
          </p:cNvPr>
          <p:cNvSpPr txBox="1"/>
          <p:nvPr/>
        </p:nvSpPr>
        <p:spPr>
          <a:xfrm>
            <a:off x="1459149" y="3094208"/>
            <a:ext cx="927370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/>
              <a:t>인하공업전문대학 컴퓨터정보과 </a:t>
            </a:r>
            <a:r>
              <a:rPr lang="en-US" altLang="ko-KR"/>
              <a:t>3</a:t>
            </a:r>
            <a:r>
              <a:rPr lang="ko-KR" altLang="en-US"/>
              <a:t>학년 </a:t>
            </a:r>
            <a:r>
              <a:rPr lang="en-US" altLang="ko-KR"/>
              <a:t>2</a:t>
            </a:r>
            <a:r>
              <a:rPr lang="ko-KR" altLang="en-US"/>
              <a:t>학기 빅데이터 프로젝트 최종 보고서</a:t>
            </a:r>
          </a:p>
        </p:txBody>
      </p:sp>
    </p:spTree>
    <p:extLst>
      <p:ext uri="{BB962C8B-B14F-4D97-AF65-F5344CB8AC3E}">
        <p14:creationId xmlns:p14="http://schemas.microsoft.com/office/powerpoint/2010/main" val="2581961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14FC7-6700-9E38-D553-F7F9E17B2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6A1F2-46D2-536D-D20B-2ED6721D4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D7E94D-410C-611F-5DEF-B7942841E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/>
              <a:t>	1. </a:t>
            </a:r>
            <a:r>
              <a:rPr lang="ko-KR" altLang="en-US" sz="2400"/>
              <a:t>서론</a:t>
            </a:r>
            <a:endParaRPr lang="en-US" altLang="ko-KR" sz="240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/>
              <a:t>	2. </a:t>
            </a:r>
            <a:r>
              <a:rPr lang="ko-KR" altLang="en-US" sz="2400"/>
              <a:t>데이터 수집</a:t>
            </a:r>
            <a:endParaRPr lang="en-US" altLang="ko-KR" sz="240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/>
              <a:t>	3. </a:t>
            </a:r>
            <a:r>
              <a:rPr lang="ko-KR" altLang="en-US" sz="2400"/>
              <a:t>머신러닝 및 시각화 결과</a:t>
            </a:r>
            <a:endParaRPr lang="en-US" altLang="ko-KR" sz="240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/>
              <a:t>	4. </a:t>
            </a:r>
            <a:r>
              <a:rPr lang="ko-KR" altLang="en-US" sz="2400"/>
              <a:t>프로젝트 후기</a:t>
            </a:r>
            <a:r>
              <a:rPr lang="en-US" altLang="ko-KR" sz="24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7098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312C5-8B8F-60F4-B037-CC3152A19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95FC991-CE13-40DD-7288-1FD6AA39F5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F4779EA-2EF8-F98F-78CA-C5A9327FF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3200" b="1">
                <a:solidFill>
                  <a:schemeClr val="bg1"/>
                </a:solidFill>
              </a:rPr>
              <a:t>1-1 </a:t>
            </a:r>
            <a:r>
              <a:rPr lang="ko-KR" altLang="en-US" sz="3200" b="1">
                <a:solidFill>
                  <a:schemeClr val="bg1"/>
                </a:solidFill>
              </a:rPr>
              <a:t>프로젝트 주제</a:t>
            </a:r>
          </a:p>
        </p:txBody>
      </p:sp>
    </p:spTree>
    <p:extLst>
      <p:ext uri="{BB962C8B-B14F-4D97-AF65-F5344CB8AC3E}">
        <p14:creationId xmlns:p14="http://schemas.microsoft.com/office/powerpoint/2010/main" val="3986081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99079-1207-7D89-C955-A1A5793E0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8695EA-42F3-367E-FD13-8A7B2F8D5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1-1 </a:t>
            </a:r>
            <a:r>
              <a:rPr lang="ko-KR" altLang="en-US" sz="2800" b="1"/>
              <a:t>프로젝트 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1DEC17-600A-4C99-C4AB-36D347595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/>
              <a:t>1. </a:t>
            </a:r>
            <a:r>
              <a:rPr lang="ko-KR" altLang="en-US" sz="2000"/>
              <a:t>고용구조와 재무성과의 상관관계 히트맵</a:t>
            </a:r>
            <a:endParaRPr lang="en-US" altLang="ko-KR" sz="200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/>
              <a:t>2. </a:t>
            </a:r>
            <a:r>
              <a:rPr lang="ko-KR" altLang="en-US" sz="2000"/>
              <a:t>고용구조증감율과 매출증감율의 관계 분석 및 회귀 모델링</a:t>
            </a:r>
            <a:endParaRPr lang="en-US" altLang="ko-KR" sz="200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/>
              <a:t>3. </a:t>
            </a:r>
            <a:r>
              <a:rPr lang="ko-KR" altLang="en-US" sz="2000"/>
              <a:t>고용구조와 영업이익의 관계 분석 및 회귀 모델링</a:t>
            </a:r>
            <a:endParaRPr lang="en-US" altLang="ko-KR" sz="200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/>
              <a:t>4. </a:t>
            </a:r>
            <a:r>
              <a:rPr lang="ko-KR" altLang="en-US" sz="2000"/>
              <a:t>고용구조와 매출액의 관계 분석 및 회귀 모델링</a:t>
            </a:r>
            <a:endParaRPr lang="en-US" altLang="ko-KR" sz="2000"/>
          </a:p>
          <a:p>
            <a:pPr>
              <a:lnSpc>
                <a:spcPct val="150000"/>
              </a:lnSpc>
            </a:pP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1811575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864B1-9B2A-6760-5B42-3FBB68BC2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8A59073-6AC3-64D5-61D3-3E24DB44EF5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3D2A4D-7034-70CA-BFE5-A6ABC7A96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3200" b="1">
                <a:solidFill>
                  <a:schemeClr val="bg1"/>
                </a:solidFill>
              </a:rPr>
              <a:t>1-2 </a:t>
            </a:r>
            <a:r>
              <a:rPr lang="ko-KR" altLang="en-US" sz="3200" b="1">
                <a:solidFill>
                  <a:schemeClr val="bg1"/>
                </a:solidFill>
              </a:rPr>
              <a:t>프로젝트 목표</a:t>
            </a:r>
          </a:p>
        </p:txBody>
      </p:sp>
    </p:spTree>
    <p:extLst>
      <p:ext uri="{BB962C8B-B14F-4D97-AF65-F5344CB8AC3E}">
        <p14:creationId xmlns:p14="http://schemas.microsoft.com/office/powerpoint/2010/main" val="3070917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940F6-27F2-773F-CE37-D403A8402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1-2 </a:t>
            </a:r>
            <a:r>
              <a:rPr lang="ko-KR" altLang="en-US" sz="2800" b="1"/>
              <a:t>프로젝트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352ED7-F237-E3C1-A3CC-E912202C9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/>
              <a:t>기업의 고용구조가 재무성과와 어떤 방식으로 연결되는지를 분석하고</a:t>
            </a:r>
            <a:r>
              <a:rPr lang="en-US" altLang="ko-KR" sz="1800"/>
              <a:t>, </a:t>
            </a:r>
            <a:r>
              <a:rPr lang="ko-KR" altLang="en-US" sz="1800"/>
              <a:t>고용구조의 변화가 실제로 재무지표에 유의미한 영향을 미치는지 검증함으로써 인사 정책이 재무적 성과에 제공할 수 있는 인사이트를 탐색한다</a:t>
            </a:r>
            <a:r>
              <a:rPr lang="en-US" altLang="ko-KR" sz="1800"/>
              <a:t>.</a:t>
            </a:r>
          </a:p>
          <a:p>
            <a:pPr>
              <a:lnSpc>
                <a:spcPct val="150000"/>
              </a:lnSpc>
            </a:pPr>
            <a:endParaRPr lang="en-US" altLang="ko-KR" sz="1800"/>
          </a:p>
          <a:p>
            <a:pPr>
              <a:lnSpc>
                <a:spcPct val="150000"/>
              </a:lnSpc>
            </a:pPr>
            <a:r>
              <a:rPr lang="ko-KR" altLang="en-US" sz="1800"/>
              <a:t>또한 단순한 통계적 상관관계 파악을 넘어</a:t>
            </a:r>
            <a:r>
              <a:rPr lang="en-US" altLang="ko-KR" sz="1800"/>
              <a:t>, </a:t>
            </a:r>
            <a:r>
              <a:rPr lang="ko-KR" altLang="en-US" sz="1800"/>
              <a:t>한 학기 동안 학습한 데이터 수집</a:t>
            </a:r>
            <a:r>
              <a:rPr lang="en-US" altLang="ko-KR" sz="1800"/>
              <a:t>·</a:t>
            </a:r>
            <a:r>
              <a:rPr lang="ko-KR" altLang="en-US" sz="1800"/>
              <a:t>전처리</a:t>
            </a:r>
            <a:r>
              <a:rPr lang="en-US" altLang="ko-KR" sz="1800"/>
              <a:t>·</a:t>
            </a:r>
            <a:r>
              <a:rPr lang="ko-KR" altLang="en-US" sz="1800"/>
              <a:t>시각화</a:t>
            </a:r>
            <a:r>
              <a:rPr lang="en-US" altLang="ko-KR" sz="1800"/>
              <a:t>·</a:t>
            </a:r>
            <a:r>
              <a:rPr lang="ko-KR" altLang="en-US" sz="1800"/>
              <a:t>머신러닝 기법을 실제 산업 데이터를 기반으로 종합적으로 적용해 보는 경험을 목표로 한다</a:t>
            </a:r>
            <a:r>
              <a:rPr lang="en-US" altLang="ko-KR" sz="18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1662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03FB3-B5F7-F3CD-FE30-C93EAE8C5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A17E8A5-6EA7-F644-0F48-23923BA692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EF94F9C-8A17-74D5-65C0-548F1C94F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3200" b="1">
                <a:solidFill>
                  <a:schemeClr val="bg1"/>
                </a:solidFill>
              </a:rPr>
              <a:t>1-3 </a:t>
            </a:r>
            <a:r>
              <a:rPr lang="ko-KR" altLang="en-US" sz="3200" b="1">
                <a:solidFill>
                  <a:schemeClr val="bg1"/>
                </a:solidFill>
              </a:rPr>
              <a:t>사용할 데이터 및 프로젝트 범위</a:t>
            </a:r>
          </a:p>
        </p:txBody>
      </p:sp>
    </p:spTree>
    <p:extLst>
      <p:ext uri="{BB962C8B-B14F-4D97-AF65-F5344CB8AC3E}">
        <p14:creationId xmlns:p14="http://schemas.microsoft.com/office/powerpoint/2010/main" val="2381034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A2FEC-6045-5620-D0D5-44512E0E0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D23440-9043-7181-1D0B-AAF2F65C3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1-3 </a:t>
            </a:r>
            <a:r>
              <a:rPr lang="ko-KR" altLang="en-US" sz="2800" b="1"/>
              <a:t>사용할 데이터 및 프로젝트 범위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88BBED-0C7D-8A4F-9251-2B9AB0196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/>
              <a:t>DART Open API (</a:t>
            </a:r>
            <a:r>
              <a:rPr lang="en-US" altLang="ko-KR" sz="2400">
                <a:hlinkClick r:id="rId2"/>
              </a:rPr>
              <a:t>https://opendart.fss.or.kr/</a:t>
            </a:r>
            <a:r>
              <a:rPr lang="en-US" altLang="ko-KR" sz="240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2000"/>
              <a:t>1. dart_fss </a:t>
            </a:r>
            <a:r>
              <a:rPr lang="ko-KR" altLang="en-US" sz="2000"/>
              <a:t>라이브러리를 이용하여</a:t>
            </a:r>
            <a:r>
              <a:rPr lang="en-US" altLang="ko-KR" sz="2000"/>
              <a:t> </a:t>
            </a:r>
            <a:r>
              <a:rPr lang="ko-KR" altLang="en-US" sz="2000"/>
              <a:t>코스피 기업들의 직원현황 및 재무정보 수집</a:t>
            </a:r>
            <a:endParaRPr lang="en-US" altLang="ko-KR" sz="2000"/>
          </a:p>
          <a:p>
            <a:pPr>
              <a:lnSpc>
                <a:spcPct val="150000"/>
              </a:lnSpc>
            </a:pPr>
            <a:r>
              <a:rPr lang="en-US" altLang="ko-KR" sz="2000"/>
              <a:t>2. pandas </a:t>
            </a:r>
            <a:r>
              <a:rPr lang="ko-KR" altLang="en-US" sz="2000"/>
              <a:t>라이브러리를 이용하여 데이터 정제 및 </a:t>
            </a:r>
            <a:r>
              <a:rPr lang="en-US" altLang="ko-KR" sz="2000"/>
              <a:t>csv </a:t>
            </a:r>
            <a:r>
              <a:rPr lang="ko-KR" altLang="en-US" sz="2000"/>
              <a:t>파일로 저장</a:t>
            </a:r>
            <a:endParaRPr lang="en-US" altLang="ko-KR" sz="2000"/>
          </a:p>
          <a:p>
            <a:pPr>
              <a:lnSpc>
                <a:spcPct val="150000"/>
              </a:lnSpc>
            </a:pPr>
            <a:r>
              <a:rPr lang="en-US" altLang="ko-KR" sz="2000"/>
              <a:t>3. sklearn </a:t>
            </a:r>
            <a:r>
              <a:rPr lang="ko-KR" altLang="en-US" sz="2000"/>
              <a:t>라이브러리를 이용하여 머신러닝 기반 회귀 분석</a:t>
            </a:r>
            <a:endParaRPr lang="en-US" altLang="ko-KR" sz="2000"/>
          </a:p>
          <a:p>
            <a:pPr>
              <a:lnSpc>
                <a:spcPct val="150000"/>
              </a:lnSpc>
            </a:pPr>
            <a:r>
              <a:rPr lang="en-US" altLang="ko-KR" sz="2000"/>
              <a:t>4. matplotlib </a:t>
            </a:r>
            <a:r>
              <a:rPr lang="ko-KR" altLang="en-US" sz="2000"/>
              <a:t>라이브러리를 이용하여 데이터 시각화</a:t>
            </a: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2020205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43093-9BCE-CF44-DC70-4B30D9066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26ADE55-DDF9-F5DF-6D90-506D0E8F1F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C61A1D8-AE31-DF15-07BF-750C6188A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3200" b="1">
                <a:solidFill>
                  <a:schemeClr val="bg1"/>
                </a:solidFill>
              </a:rPr>
              <a:t>2-1 </a:t>
            </a:r>
            <a:r>
              <a:rPr lang="ko-KR" altLang="en-US" sz="3200" b="1">
                <a:solidFill>
                  <a:schemeClr val="bg1"/>
                </a:solidFill>
              </a:rPr>
              <a:t>데이터 수집 및 전처리 실행 순서</a:t>
            </a:r>
          </a:p>
        </p:txBody>
      </p:sp>
    </p:spTree>
    <p:extLst>
      <p:ext uri="{BB962C8B-B14F-4D97-AF65-F5344CB8AC3E}">
        <p14:creationId xmlns:p14="http://schemas.microsoft.com/office/powerpoint/2010/main" val="3846323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7E948-09DD-C354-A280-94DA81E18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670109-D590-D641-6EDA-537511628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2-1 </a:t>
            </a:r>
            <a:r>
              <a:rPr lang="ko-KR" altLang="en-US" sz="2800" b="1"/>
              <a:t>데이터 수집 및 전처리 실행 순서</a:t>
            </a:r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017B41-9349-0787-4B45-3523B65D5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783" y="2040710"/>
            <a:ext cx="9202434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174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FC710-E5C8-77D8-EC7E-23B62BA68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9F712FE-DF7F-F15E-A0AE-8A77A03C9A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1255C0F-EB3A-700E-0F64-7908855A0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3200" b="1">
                <a:solidFill>
                  <a:schemeClr val="bg1"/>
                </a:solidFill>
              </a:rPr>
              <a:t>2-2 </a:t>
            </a:r>
            <a:r>
              <a:rPr lang="ko-KR" altLang="en-US" sz="3200" b="1">
                <a:solidFill>
                  <a:schemeClr val="bg1"/>
                </a:solidFill>
              </a:rPr>
              <a:t>기업 코드 및 리스트 수집</a:t>
            </a:r>
          </a:p>
        </p:txBody>
      </p:sp>
    </p:spTree>
    <p:extLst>
      <p:ext uri="{BB962C8B-B14F-4D97-AF65-F5344CB8AC3E}">
        <p14:creationId xmlns:p14="http://schemas.microsoft.com/office/powerpoint/2010/main" val="1152651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F4741-A276-282C-15F8-8E17EE93E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B73B01-8CC4-1739-34AB-15CC7F011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2-2 DART </a:t>
            </a:r>
            <a:r>
              <a:rPr lang="ko-KR" altLang="en-US" sz="2800" b="1"/>
              <a:t>기업 코드 </a:t>
            </a:r>
            <a:r>
              <a:rPr lang="en-US" altLang="ko-KR" sz="2800" b="1"/>
              <a:t>XML </a:t>
            </a:r>
            <a:r>
              <a:rPr lang="ko-KR" altLang="en-US" sz="2800" b="1"/>
              <a:t>다운로드</a:t>
            </a:r>
          </a:p>
        </p:txBody>
      </p:sp>
      <p:pic>
        <p:nvPicPr>
          <p:cNvPr id="5" name="그림 4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5CDE2A-7B54-C184-5CDF-F85DE115E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318" y="1609337"/>
            <a:ext cx="6771364" cy="4883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419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7F561-D342-DEEA-1207-941A57BBB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171A51-F550-9305-CF26-A998EC5DC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2-2 KRX </a:t>
            </a:r>
            <a:r>
              <a:rPr lang="ko-KR" altLang="en-US" sz="2800" b="1"/>
              <a:t>리스트 필터링</a:t>
            </a: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D428B2-289C-7FFF-78E1-5A0CC465B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336" y="1483418"/>
            <a:ext cx="7897327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144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83D7A-009C-7C04-95CD-42038CA2C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028288-F8A3-67A2-F220-7B939D9A1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2-2 KRX-DART </a:t>
            </a:r>
            <a:r>
              <a:rPr lang="ko-KR" altLang="en-US" sz="2800" b="1"/>
              <a:t>기업코드 매칭</a:t>
            </a:r>
          </a:p>
        </p:txBody>
      </p:sp>
      <p:pic>
        <p:nvPicPr>
          <p:cNvPr id="7" name="그림 6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EDD8B02-00C7-4B72-B12A-D5271D5DC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730" y="1569396"/>
            <a:ext cx="5830539" cy="4981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499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577E8-DCBE-2404-AE9F-8FE634DF9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DEB7892-4008-412F-4494-913D6802B1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F32A46E-9739-7130-AD17-415722950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2-3 </a:t>
            </a:r>
            <a:r>
              <a:rPr lang="ko-KR" altLang="en-US" sz="2800" b="1">
                <a:solidFill>
                  <a:schemeClr val="bg1"/>
                </a:solidFill>
              </a:rPr>
              <a:t>고용 현황 데이터 수집</a:t>
            </a:r>
          </a:p>
        </p:txBody>
      </p:sp>
    </p:spTree>
    <p:extLst>
      <p:ext uri="{BB962C8B-B14F-4D97-AF65-F5344CB8AC3E}">
        <p14:creationId xmlns:p14="http://schemas.microsoft.com/office/powerpoint/2010/main" val="1584184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44603-596D-7343-3856-B21BAD589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8B989F-2A83-477B-95DD-F0AEA6590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2-3 </a:t>
            </a:r>
            <a:r>
              <a:rPr lang="ko-KR" altLang="en-US" sz="2800" b="1"/>
              <a:t>직원 현황 </a:t>
            </a:r>
            <a:r>
              <a:rPr lang="en-US" altLang="ko-KR" sz="2800" b="1"/>
              <a:t>Raw </a:t>
            </a:r>
            <a:r>
              <a:rPr lang="ko-KR" altLang="en-US" sz="2800" b="1"/>
              <a:t>데이터 수집</a:t>
            </a: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DB7A98-18FC-C3FA-B3F9-C6B3F8490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441" y="1869055"/>
            <a:ext cx="8907118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985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CC79F-46A6-8D2B-B0A6-3EC905846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BC6AF-5D5D-29D8-1CC0-D1221A2EC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2-3 </a:t>
            </a:r>
            <a:r>
              <a:rPr lang="ko-KR" altLang="en-US" sz="2800" b="1"/>
              <a:t>직원 현황 </a:t>
            </a:r>
            <a:r>
              <a:rPr lang="en-US" altLang="ko-KR" sz="2800" b="1"/>
              <a:t>Raw </a:t>
            </a:r>
            <a:r>
              <a:rPr lang="ko-KR" altLang="en-US" sz="2800" b="1"/>
              <a:t>데이터 수집</a:t>
            </a:r>
          </a:p>
        </p:txBody>
      </p:sp>
      <p:pic>
        <p:nvPicPr>
          <p:cNvPr id="5" name="그림 4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FFE03A-9181-49A2-BBEA-8A8BF62EC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306" y="528536"/>
            <a:ext cx="4635490" cy="6115456"/>
          </a:xfrm>
          <a:prstGeom prst="rect">
            <a:avLst/>
          </a:prstGeom>
        </p:spPr>
      </p:pic>
      <p:pic>
        <p:nvPicPr>
          <p:cNvPr id="9" name="그림 8" descr="텍스트, 스크린샷, 메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0F6D64-AFD6-A001-16D2-CCE8F9596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858" y="1640091"/>
            <a:ext cx="4381501" cy="50039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49011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7D134-9E59-424C-7E57-9A138931F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DCA4AC-8419-338A-0A87-62848E4D1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2-3 </a:t>
            </a:r>
            <a:r>
              <a:rPr lang="ko-KR" altLang="en-US" sz="2800" b="1"/>
              <a:t>직원 데이터 사업부문 통합</a:t>
            </a:r>
          </a:p>
        </p:txBody>
      </p:sp>
      <p:pic>
        <p:nvPicPr>
          <p:cNvPr id="4" name="그림 3" descr="텍스트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11158E-966B-5518-19C1-B45A07FAC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51" y="2236666"/>
            <a:ext cx="5655749" cy="3625281"/>
          </a:xfrm>
          <a:prstGeom prst="rect">
            <a:avLst/>
          </a:prstGeom>
        </p:spPr>
      </p:pic>
      <p:pic>
        <p:nvPicPr>
          <p:cNvPr id="6" name="그림 5" descr="텍스트, 스크린샷, 메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4F9E08-42AB-E604-224D-13D7D0A23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593" y="1027908"/>
            <a:ext cx="4421203" cy="55560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81321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7510-2F5D-5F44-2A08-1E90004DC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E9660-892D-55F4-E055-C0899069E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2-3 </a:t>
            </a:r>
            <a:r>
              <a:rPr lang="ko-KR" altLang="en-US" sz="2800" b="1"/>
              <a:t>데이터가 온전한 기업 필터링</a:t>
            </a:r>
          </a:p>
        </p:txBody>
      </p:sp>
      <p:pic>
        <p:nvPicPr>
          <p:cNvPr id="4" name="그림 3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F0EA52-DC42-EC85-89EF-7CB2293E7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889" y="1529217"/>
            <a:ext cx="7316221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451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E0B82-AD02-5A77-2F3B-42A2F80D7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FE65BE-7115-0DFE-9153-CC5CD7063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2-3 </a:t>
            </a:r>
            <a:r>
              <a:rPr lang="ko-KR" altLang="en-US" sz="2800" b="1"/>
              <a:t>직원 데이터 최종 파생 변수 및 증감율 계산</a:t>
            </a:r>
          </a:p>
        </p:txBody>
      </p:sp>
      <p:pic>
        <p:nvPicPr>
          <p:cNvPr id="4" name="그림 3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FD2F46-1CB3-37B5-B65A-082B57825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57" y="1368357"/>
            <a:ext cx="4727313" cy="5400000"/>
          </a:xfrm>
          <a:prstGeom prst="rect">
            <a:avLst/>
          </a:prstGeom>
        </p:spPr>
      </p:pic>
      <p:pic>
        <p:nvPicPr>
          <p:cNvPr id="6" name="그림 5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89DD65-5214-1BB9-8CF0-AE0AB52C8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68357"/>
            <a:ext cx="3979890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0053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AA544-44A0-1AD3-9A95-F646EAB66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516675-77AC-0BFC-E206-340EB2DD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2-3 </a:t>
            </a:r>
            <a:r>
              <a:rPr lang="ko-KR" altLang="en-US" sz="2800" b="1"/>
              <a:t>직원 데이터 최종 파생 변수 및 증감율 계산</a:t>
            </a:r>
          </a:p>
        </p:txBody>
      </p:sp>
      <p:pic>
        <p:nvPicPr>
          <p:cNvPr id="5" name="그림 4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8D3F41-27DF-1866-6E86-659767E2D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96" y="1368358"/>
            <a:ext cx="4059396" cy="5400000"/>
          </a:xfrm>
          <a:prstGeom prst="rect">
            <a:avLst/>
          </a:prstGeom>
        </p:spPr>
      </p:pic>
      <p:pic>
        <p:nvPicPr>
          <p:cNvPr id="8" name="그림 7" descr="텍스트, 스크린샷, 폰트, 시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F83BD0-4294-726A-B4AF-F5BD1FDD5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678" y="1368358"/>
            <a:ext cx="5315692" cy="704948"/>
          </a:xfrm>
          <a:prstGeom prst="rect">
            <a:avLst/>
          </a:prstGeom>
        </p:spPr>
      </p:pic>
      <p:pic>
        <p:nvPicPr>
          <p:cNvPr id="10" name="그림 9" descr="텍스트, 스크린샷, 번호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5E11EC-5D79-381C-8B7F-DCB9EAD54F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919" y="2693921"/>
            <a:ext cx="5651372" cy="3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5240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FBF42-5694-AD66-E514-4188FDC8D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68AC1B-511E-DD6D-C2F1-C2C55B458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77E956F-DC06-0BC4-23CF-52A8D182E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2-4 </a:t>
            </a:r>
            <a:r>
              <a:rPr lang="ko-KR" altLang="en-US" sz="2800" b="1">
                <a:solidFill>
                  <a:schemeClr val="bg1"/>
                </a:solidFill>
              </a:rPr>
              <a:t>재무 성과 데이터 수집 및 전처리</a:t>
            </a:r>
          </a:p>
        </p:txBody>
      </p:sp>
    </p:spTree>
    <p:extLst>
      <p:ext uri="{BB962C8B-B14F-4D97-AF65-F5344CB8AC3E}">
        <p14:creationId xmlns:p14="http://schemas.microsoft.com/office/powerpoint/2010/main" val="9825783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32667-D2FF-F377-BB09-69F0AE9A2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85811-081C-C419-8CCA-AF2522044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2-4 </a:t>
            </a:r>
            <a:r>
              <a:rPr lang="ko-KR" altLang="en-US" sz="2800" b="1"/>
              <a:t>재무 데이터 </a:t>
            </a:r>
            <a:r>
              <a:rPr lang="en-US" altLang="ko-KR" sz="2800" b="1"/>
              <a:t>Raw </a:t>
            </a:r>
            <a:r>
              <a:rPr lang="ko-KR" altLang="en-US" sz="2800" b="1"/>
              <a:t>수집</a:t>
            </a:r>
          </a:p>
        </p:txBody>
      </p:sp>
      <p:pic>
        <p:nvPicPr>
          <p:cNvPr id="4" name="그림 3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02D71B-EB98-E9B4-E8E9-EA1512ABF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14" y="1610062"/>
            <a:ext cx="4990056" cy="4860000"/>
          </a:xfrm>
          <a:prstGeom prst="rect">
            <a:avLst/>
          </a:prstGeom>
        </p:spPr>
      </p:pic>
      <p:pic>
        <p:nvPicPr>
          <p:cNvPr id="8" name="그림 7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59D321-BFC4-BAA0-38E7-20469FB73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987" y="2150062"/>
            <a:ext cx="6322138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0312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E994B-5AAC-C56E-0967-110575D8C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12491E-507D-B839-AE72-03024AA92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2-4 </a:t>
            </a:r>
            <a:r>
              <a:rPr lang="ko-KR" altLang="en-US" sz="2800" b="1"/>
              <a:t>재무 데이터 </a:t>
            </a:r>
            <a:r>
              <a:rPr lang="en-US" altLang="ko-KR" sz="2800" b="1"/>
              <a:t>Raw </a:t>
            </a:r>
            <a:r>
              <a:rPr lang="ko-KR" altLang="en-US" sz="2800" b="1"/>
              <a:t>수집</a:t>
            </a:r>
          </a:p>
        </p:txBody>
      </p:sp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3FDC70-9D5D-E76B-02A6-5CD2FE8C7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377" y="1690690"/>
            <a:ext cx="4818289" cy="468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065989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B960F-934D-928D-A2C5-8DE1873CE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37940-1CF4-AC5B-FEFC-D9124A3CE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2-4 </a:t>
            </a:r>
            <a:r>
              <a:rPr lang="ko-KR" altLang="en-US" sz="2800" b="1"/>
              <a:t>사업보고서 하반기 실적 보정</a:t>
            </a:r>
          </a:p>
        </p:txBody>
      </p:sp>
      <p:pic>
        <p:nvPicPr>
          <p:cNvPr id="4" name="그림 3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DA13B2-0867-2A86-61CC-BFF9372E1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32" y="1583806"/>
            <a:ext cx="6757786" cy="5040000"/>
          </a:xfrm>
          <a:prstGeom prst="rect">
            <a:avLst/>
          </a:prstGeom>
        </p:spPr>
      </p:pic>
      <p:pic>
        <p:nvPicPr>
          <p:cNvPr id="6" name="그림 5" descr="텍스트, 스크린샷, 메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2E627F-F7C3-FD5E-3947-9C26F14FD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5004" y="1583806"/>
            <a:ext cx="3549645" cy="504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87968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20DBE-9B43-C8D5-AE73-37FD8AC80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88D9AD-E588-7CE0-B02F-C325A4A04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2-4 </a:t>
            </a:r>
            <a:r>
              <a:rPr lang="ko-KR" altLang="en-US" sz="2800" b="1"/>
              <a:t>재무 데이터 증감율 계산</a:t>
            </a:r>
          </a:p>
        </p:txBody>
      </p:sp>
      <p:pic>
        <p:nvPicPr>
          <p:cNvPr id="6" name="그림 5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5A7D914-4AC6-1777-7603-2ECF26DEC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977" y="1400783"/>
            <a:ext cx="3894691" cy="5400000"/>
          </a:xfrm>
          <a:prstGeom prst="rect">
            <a:avLst/>
          </a:prstGeom>
        </p:spPr>
      </p:pic>
      <p:pic>
        <p:nvPicPr>
          <p:cNvPr id="8" name="그림 7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0F3EC3-2F71-7818-1C23-A7A655898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467" y="1400783"/>
            <a:ext cx="5304785" cy="54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622584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762B5-BC62-CB99-249A-88B0DC804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FB93FD1-DDB4-2819-2F15-FE1D504398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176A858-8AD8-CCCA-47D8-F4484B1FC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2-5. </a:t>
            </a:r>
            <a:r>
              <a:rPr lang="ko-KR" altLang="en-US" sz="2800" b="1">
                <a:solidFill>
                  <a:schemeClr val="bg1"/>
                </a:solidFill>
              </a:rPr>
              <a:t>최종 데이터 통합 및 정제</a:t>
            </a:r>
          </a:p>
        </p:txBody>
      </p:sp>
    </p:spTree>
    <p:extLst>
      <p:ext uri="{BB962C8B-B14F-4D97-AF65-F5344CB8AC3E}">
        <p14:creationId xmlns:p14="http://schemas.microsoft.com/office/powerpoint/2010/main" val="16064225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BD1EC-9D21-192C-51D8-D87856113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271547-DB8A-765A-6C75-3BCDAF020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2-5 </a:t>
            </a:r>
            <a:r>
              <a:rPr lang="ko-KR" altLang="en-US" sz="2800" b="1"/>
              <a:t>고용</a:t>
            </a:r>
            <a:r>
              <a:rPr lang="en-US" altLang="ko-KR" sz="2800" b="1"/>
              <a:t>-</a:t>
            </a:r>
            <a:r>
              <a:rPr lang="ko-KR" altLang="en-US" sz="2800" b="1"/>
              <a:t>재무 데이터 통합</a:t>
            </a:r>
          </a:p>
        </p:txBody>
      </p:sp>
      <p:pic>
        <p:nvPicPr>
          <p:cNvPr id="4" name="그림 3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220C58-7A10-9223-FD38-A7FA9EE79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679" y="1491626"/>
            <a:ext cx="7106642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7573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D5ECF-ECFB-3F26-EA1F-83FAE3BC0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B5A6C6-1B6F-A089-DED5-635B40D23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2-5 </a:t>
            </a:r>
            <a:r>
              <a:rPr lang="ko-KR" altLang="en-US" sz="2800" b="1"/>
              <a:t>고용</a:t>
            </a:r>
            <a:r>
              <a:rPr lang="en-US" altLang="ko-KR" sz="2800" b="1"/>
              <a:t>-</a:t>
            </a:r>
            <a:r>
              <a:rPr lang="ko-KR" altLang="en-US" sz="2800" b="1"/>
              <a:t>재무 데이터 통합</a:t>
            </a:r>
          </a:p>
        </p:txBody>
      </p:sp>
      <p:pic>
        <p:nvPicPr>
          <p:cNvPr id="5" name="그림 4" descr="텍스트, 스크린샷, 번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F44740C-CAC3-7C14-7FAC-8D9AD4ED4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6" y="1448616"/>
            <a:ext cx="10064955" cy="51861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588890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4FBE5-E5F3-632D-DDDE-D8CB6D5EE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B26527-4AA5-B0C5-844F-9611DF309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2-5 </a:t>
            </a:r>
            <a:r>
              <a:rPr lang="ko-KR" altLang="en-US" sz="2800" b="1"/>
              <a:t>최종 데이터 정제 및 저장</a:t>
            </a:r>
          </a:p>
        </p:txBody>
      </p:sp>
      <p:pic>
        <p:nvPicPr>
          <p:cNvPr id="4" name="그림 3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51B3DB-5EBE-7C0A-5B27-BB9193D72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073" y="1302930"/>
            <a:ext cx="7486153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3935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3B1F7-08CB-AFA6-7D0B-B0E285EB7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66CE1-728D-CD17-5C6B-B6553F584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2-5 </a:t>
            </a:r>
            <a:r>
              <a:rPr lang="ko-KR" altLang="en-US" sz="2800" b="1"/>
              <a:t>고용</a:t>
            </a:r>
            <a:r>
              <a:rPr lang="en-US" altLang="ko-KR" sz="2800" b="1"/>
              <a:t>-</a:t>
            </a:r>
            <a:r>
              <a:rPr lang="ko-KR" altLang="en-US" sz="2800" b="1"/>
              <a:t>재무 데이터 통합</a:t>
            </a:r>
          </a:p>
        </p:txBody>
      </p:sp>
      <p:pic>
        <p:nvPicPr>
          <p:cNvPr id="3" name="그림 2" descr="텍스트, 스크린샷, 문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12EF79-0284-5DC1-C468-B603E7472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954" y="1322961"/>
            <a:ext cx="9184091" cy="54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639302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0A48C-97CE-EDB2-AF82-91BC3D32B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0988907-5B66-0190-EE68-E3DAADF2150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5480E03-6CDD-FF78-DB3C-5EF40DA14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3200" b="1">
                <a:solidFill>
                  <a:schemeClr val="bg1"/>
                </a:solidFill>
              </a:rPr>
              <a:t>2-6 </a:t>
            </a:r>
            <a:r>
              <a:rPr lang="ko-KR" altLang="en-US" sz="3200" b="1">
                <a:solidFill>
                  <a:schemeClr val="bg1"/>
                </a:solidFill>
              </a:rPr>
              <a:t>데이터 수집 결과</a:t>
            </a:r>
          </a:p>
        </p:txBody>
      </p:sp>
    </p:spTree>
    <p:extLst>
      <p:ext uri="{BB962C8B-B14F-4D97-AF65-F5344CB8AC3E}">
        <p14:creationId xmlns:p14="http://schemas.microsoft.com/office/powerpoint/2010/main" val="25444409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D0091-FABF-6461-3062-5EB4B380B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B4C2E-6BF9-DF76-7B2A-79CDA4CDF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2-6 </a:t>
            </a:r>
            <a:r>
              <a:rPr lang="ko-KR" altLang="en-US" sz="2800" b="1"/>
              <a:t>데이터 수집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65B642-1E3B-6457-567F-522C2A7D0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/>
              <a:t>2016</a:t>
            </a:r>
            <a:r>
              <a:rPr lang="ko-KR" altLang="en-US" sz="1800"/>
              <a:t>년 이전의 재무 데이터는 양식과 산정방식이 지금과 다르기에 사용할 수 없었음</a:t>
            </a:r>
            <a:r>
              <a:rPr lang="en-US" altLang="ko-KR" sz="180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800"/>
              <a:t>일부 증권사</a:t>
            </a:r>
            <a:r>
              <a:rPr lang="en-US" altLang="ko-KR" sz="1800"/>
              <a:t>, </a:t>
            </a:r>
            <a:r>
              <a:rPr lang="ko-KR" altLang="en-US" sz="1800"/>
              <a:t>금융기업은 직원 급여를 제공하지 않아 사용할 수 없었음</a:t>
            </a:r>
            <a:r>
              <a:rPr lang="en-US" altLang="ko-KR" sz="180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800"/>
              <a:t>상장폐지되거나 합병된 기업의 경우 제외함</a:t>
            </a:r>
            <a:r>
              <a:rPr lang="en-US" altLang="ko-KR" sz="1800"/>
              <a:t>.</a:t>
            </a:r>
          </a:p>
          <a:p>
            <a:pPr>
              <a:lnSpc>
                <a:spcPct val="150000"/>
              </a:lnSpc>
            </a:pPr>
            <a:endParaRPr lang="en-US" altLang="ko-KR" sz="1800"/>
          </a:p>
          <a:p>
            <a:pPr>
              <a:lnSpc>
                <a:spcPct val="150000"/>
              </a:lnSpc>
            </a:pPr>
            <a:r>
              <a:rPr lang="ko-KR" altLang="en-US" sz="1800"/>
              <a:t>따라서 </a:t>
            </a:r>
            <a:r>
              <a:rPr lang="ko-KR" altLang="en-US" sz="1800" b="1"/>
              <a:t>총 </a:t>
            </a:r>
            <a:r>
              <a:rPr lang="en-US" altLang="ko-KR" sz="1800" b="1"/>
              <a:t>594</a:t>
            </a:r>
            <a:r>
              <a:rPr lang="ko-KR" altLang="en-US" sz="1800" b="1"/>
              <a:t>개 코스피 상장 기업</a:t>
            </a:r>
            <a:r>
              <a:rPr lang="ko-KR" altLang="en-US" sz="1800"/>
              <a:t>의 </a:t>
            </a:r>
            <a:r>
              <a:rPr lang="en-US" altLang="ko-KR" sz="1800"/>
              <a:t>2016~2024</a:t>
            </a:r>
            <a:r>
              <a:rPr lang="ko-KR" altLang="en-US" sz="1800"/>
              <a:t> 반기보고서</a:t>
            </a:r>
            <a:r>
              <a:rPr lang="en-US" altLang="ko-KR" sz="1800"/>
              <a:t>, </a:t>
            </a:r>
            <a:r>
              <a:rPr lang="ko-KR" altLang="en-US" sz="1800"/>
              <a:t>사업보고서 데이터를 수집하였고</a:t>
            </a:r>
            <a:br>
              <a:rPr lang="en-US" altLang="ko-KR" sz="1800"/>
            </a:br>
            <a:r>
              <a:rPr lang="ko-KR" altLang="en-US" sz="1800"/>
              <a:t>증감율 계산을 위해 </a:t>
            </a:r>
            <a:r>
              <a:rPr lang="en-US" altLang="ko-KR" sz="1800"/>
              <a:t>2016</a:t>
            </a:r>
            <a:r>
              <a:rPr lang="ko-KR" altLang="en-US" sz="1800"/>
              <a:t>년 반기보고서를 제외한 </a:t>
            </a:r>
            <a:r>
              <a:rPr lang="en-US" altLang="ko-KR" sz="1800" b="1"/>
              <a:t>2017</a:t>
            </a:r>
            <a:r>
              <a:rPr lang="ko-KR" altLang="en-US" sz="1800" b="1"/>
              <a:t>년 사업보고서 </a:t>
            </a:r>
            <a:r>
              <a:rPr lang="en-US" altLang="ko-KR" sz="1800" b="1"/>
              <a:t>~ 2024</a:t>
            </a:r>
            <a:r>
              <a:rPr lang="ko-KR" altLang="en-US" sz="1800" b="1"/>
              <a:t>년 반기보고서</a:t>
            </a:r>
            <a:br>
              <a:rPr lang="en-US" altLang="ko-KR" sz="1800"/>
            </a:br>
            <a:r>
              <a:rPr lang="ko-KR" altLang="en-US" sz="1800"/>
              <a:t>까지의 데이터를 사용하기로 최종 결정함</a:t>
            </a:r>
            <a:r>
              <a:rPr lang="en-US" altLang="ko-KR" sz="1800"/>
              <a:t>.</a:t>
            </a:r>
          </a:p>
          <a:p>
            <a:pPr>
              <a:lnSpc>
                <a:spcPct val="150000"/>
              </a:lnSpc>
            </a:pPr>
            <a:endParaRPr lang="en-US" altLang="ko-KR" sz="1800"/>
          </a:p>
          <a:p>
            <a:pPr>
              <a:lnSpc>
                <a:spcPct val="150000"/>
              </a:lnSpc>
            </a:pPr>
            <a:endParaRPr lang="en-US" altLang="ko-KR" sz="1800"/>
          </a:p>
        </p:txBody>
      </p:sp>
    </p:spTree>
    <p:extLst>
      <p:ext uri="{BB962C8B-B14F-4D97-AF65-F5344CB8AC3E}">
        <p14:creationId xmlns:p14="http://schemas.microsoft.com/office/powerpoint/2010/main" val="25898642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FB776-2E6D-0393-C412-FB5F3872C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7C6789F-CF07-568E-5A1B-2858A91DE3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6E2D4E7-3453-ECFC-C0C8-31F42E4B6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3200" b="1">
                <a:solidFill>
                  <a:schemeClr val="bg1"/>
                </a:solidFill>
              </a:rPr>
              <a:t>3-1 </a:t>
            </a:r>
            <a:r>
              <a:rPr lang="ko-KR" altLang="en-US" sz="3200" b="1">
                <a:solidFill>
                  <a:schemeClr val="bg1"/>
                </a:solidFill>
              </a:rPr>
              <a:t>고용구조와 재무성과의 상관관계 히트맵</a:t>
            </a:r>
          </a:p>
        </p:txBody>
      </p:sp>
    </p:spTree>
    <p:extLst>
      <p:ext uri="{BB962C8B-B14F-4D97-AF65-F5344CB8AC3E}">
        <p14:creationId xmlns:p14="http://schemas.microsoft.com/office/powerpoint/2010/main" val="28786161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2F101-991A-8628-BED2-473BA8B9E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6EEBAE-5239-BA84-2507-F239794CB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3-1 </a:t>
            </a:r>
            <a:r>
              <a:rPr lang="ko-KR" altLang="en-US" sz="2800" b="1"/>
              <a:t>고용구조와 재무성과의 상관관계 히트맵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0EABA5-159B-9B8F-75F0-6D970BF7B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/>
              <a:t>1. </a:t>
            </a:r>
            <a:r>
              <a:rPr lang="ko-KR" altLang="en-US" sz="2000" b="1"/>
              <a:t>데이터 로드</a:t>
            </a:r>
            <a:endParaRPr lang="en-US" altLang="ko-KR" sz="2000" b="1"/>
          </a:p>
          <a:p>
            <a:pPr>
              <a:lnSpc>
                <a:spcPct val="150000"/>
              </a:lnSpc>
            </a:pPr>
            <a:r>
              <a:rPr lang="en-US" altLang="ko-KR" sz="2000" b="1"/>
              <a:t>2.</a:t>
            </a:r>
            <a:r>
              <a:rPr lang="ko-KR" altLang="en-US" sz="2000" b="1"/>
              <a:t> 보고서유형</a:t>
            </a:r>
            <a:r>
              <a:rPr lang="en-US" altLang="ko-KR" sz="2000" b="1"/>
              <a:t>(</a:t>
            </a:r>
            <a:r>
              <a:rPr lang="ko-KR" altLang="en-US" sz="2000" b="1"/>
              <a:t>반기</a:t>
            </a:r>
            <a:r>
              <a:rPr lang="en-US" altLang="ko-KR" sz="2000" b="1"/>
              <a:t>/</a:t>
            </a:r>
            <a:r>
              <a:rPr lang="ko-KR" altLang="en-US" sz="2000" b="1"/>
              <a:t>사업</a:t>
            </a:r>
            <a:r>
              <a:rPr lang="en-US" altLang="ko-KR" sz="2000" b="1"/>
              <a:t>)</a:t>
            </a:r>
            <a:r>
              <a:rPr lang="ko-KR" altLang="en-US" sz="2000" b="1"/>
              <a:t>의 모델 활용을 위한 수치 변환</a:t>
            </a:r>
            <a:br>
              <a:rPr lang="en-US" altLang="ko-KR" sz="2000" b="1"/>
            </a:br>
            <a:r>
              <a:rPr lang="ko-KR" altLang="en-US" sz="1600"/>
              <a:t>반기보고서 </a:t>
            </a:r>
            <a:r>
              <a:rPr lang="en-US" altLang="ko-KR" sz="1600"/>
              <a:t>-&gt; 0 / </a:t>
            </a:r>
            <a:r>
              <a:rPr lang="ko-KR" altLang="en-US" sz="1600"/>
              <a:t>사업보고서 </a:t>
            </a:r>
            <a:r>
              <a:rPr lang="en-US" altLang="ko-KR" sz="1600"/>
              <a:t>-&gt; 1</a:t>
            </a:r>
          </a:p>
          <a:p>
            <a:pPr>
              <a:lnSpc>
                <a:spcPct val="150000"/>
              </a:lnSpc>
            </a:pPr>
            <a:r>
              <a:rPr lang="en-US" altLang="ko-KR" sz="2000" b="1"/>
              <a:t>3. </a:t>
            </a:r>
            <a:r>
              <a:rPr lang="ko-KR" altLang="en-US" sz="2000" b="1"/>
              <a:t>숫자형 변수들만 추출하고 </a:t>
            </a:r>
            <a:r>
              <a:rPr lang="en-US" altLang="ko-KR" sz="2000" b="1"/>
              <a:t>corr() </a:t>
            </a:r>
            <a:r>
              <a:rPr lang="ko-KR" altLang="en-US" sz="2000" b="1"/>
              <a:t>메소드를 이용하여 상관관계 히트맵 출력</a:t>
            </a:r>
            <a:endParaRPr lang="en-US" altLang="ko-KR" sz="2000" b="1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3CA6FB-4504-0DC8-81B4-217ACD305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971" y="4429271"/>
            <a:ext cx="6330884" cy="21957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E88766-A30F-EA4E-6744-0EB60777D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818" y="4555446"/>
            <a:ext cx="6535062" cy="9716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067385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A0E2F-63D8-D77A-5B0E-6E65EA5CC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99E77C-AF0A-1614-CB18-1F12FA3C9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3-1 </a:t>
            </a:r>
            <a:r>
              <a:rPr lang="ko-KR" altLang="en-US" sz="2800" b="1"/>
              <a:t>고용구조와 재무성과의 상관관계 히트맵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8ACA85B-9DEB-2773-6755-F18789B83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514" y="1690690"/>
            <a:ext cx="5562971" cy="5030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2964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24D44-6D69-6CC2-0448-E610884EA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587515-9E7B-21B2-AB6C-60156F64E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3-1 </a:t>
            </a:r>
            <a:r>
              <a:rPr lang="ko-KR" altLang="en-US" sz="2800" b="1"/>
              <a:t>고용구조와 재무성과의 상관관계 히트맵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9FA26C-0B4A-A682-E862-0553BF0AC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4" y="1825625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/>
              <a:t>직원 수 관련 지표들은 서로 강한 양의 상관관계를 가짐</a:t>
            </a:r>
            <a:r>
              <a:rPr lang="en-US" altLang="ko-KR" sz="1600"/>
              <a:t>.</a:t>
            </a:r>
            <a:br>
              <a:rPr lang="en-US" altLang="ko-KR" sz="1600"/>
            </a:br>
            <a:r>
              <a:rPr lang="ko-KR" altLang="en-US" sz="1600"/>
              <a:t>이는 기업 규모가 직원 전반에 균등하게 영향을 미친다는 것을 의미함</a:t>
            </a:r>
            <a:r>
              <a:rPr lang="en-US" altLang="ko-KR" sz="160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/>
              <a:t>직원 수 증감률 지표들 역시 강한 그룹을 형성함</a:t>
            </a:r>
            <a:r>
              <a:rPr lang="en-US" altLang="ko-KR" sz="160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/>
              <a:t>특정 인력군을 확충하는 기업은 다른 인력군도 함께 증가시키는 경향이 있음</a:t>
            </a:r>
            <a:r>
              <a:rPr lang="en-US" altLang="ko-KR" sz="160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/>
              <a:t>반면 고용구조 지표와 재무성과의 상관관계는 낮게 나타남</a:t>
            </a:r>
            <a:r>
              <a:rPr lang="en-US" altLang="ko-KR" sz="1600"/>
              <a:t>.</a:t>
            </a:r>
            <a:br>
              <a:rPr lang="en-US" altLang="ko-KR" sz="1600"/>
            </a:br>
            <a:r>
              <a:rPr lang="ko-KR" altLang="en-US" sz="1600"/>
              <a:t>이는 인력 구성 자체가 매출이나 이익과 직접적인 선형 관계를 가지지 않음을 시사함</a:t>
            </a:r>
            <a:r>
              <a:rPr lang="en-US" altLang="ko-KR" sz="1600"/>
              <a:t>.</a:t>
            </a:r>
          </a:p>
          <a:p>
            <a:pPr>
              <a:lnSpc>
                <a:spcPct val="150000"/>
              </a:lnSpc>
            </a:pPr>
            <a:endParaRPr lang="en-US" altLang="ko-KR" sz="1600"/>
          </a:p>
        </p:txBody>
      </p:sp>
    </p:spTree>
    <p:extLst>
      <p:ext uri="{BB962C8B-B14F-4D97-AF65-F5344CB8AC3E}">
        <p14:creationId xmlns:p14="http://schemas.microsoft.com/office/powerpoint/2010/main" val="39972193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A8AA0-70C2-EA1D-E823-6B88767BF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9A4A094-4DF7-430C-7BAA-2C7C0B0A06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89B4568-FC4B-56E1-7531-161D73613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3-2 </a:t>
            </a:r>
            <a:r>
              <a:rPr lang="ko-KR" altLang="en-US" sz="2800" b="1">
                <a:solidFill>
                  <a:schemeClr val="bg1"/>
                </a:solidFill>
              </a:rPr>
              <a:t>고용구조증감율과 매출증감율의 관계 분석 및 회귀 모델링</a:t>
            </a:r>
          </a:p>
        </p:txBody>
      </p:sp>
    </p:spTree>
    <p:extLst>
      <p:ext uri="{BB962C8B-B14F-4D97-AF65-F5344CB8AC3E}">
        <p14:creationId xmlns:p14="http://schemas.microsoft.com/office/powerpoint/2010/main" val="39905516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2712F-0C57-56B9-D753-F8232EE96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A3494B-EFBA-91AB-64D8-BFFD9122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3-2 </a:t>
            </a:r>
            <a:r>
              <a:rPr lang="ko-KR" altLang="en-US" sz="2800" b="1"/>
              <a:t>고용구조증감율과 매출증감율의 관계 분석 및 회귀 모델링</a:t>
            </a:r>
            <a:endParaRPr lang="ko-KR" altLang="en-US" sz="28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47D025-53FA-A0A2-CF5E-AA04DF794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500" b="1"/>
              <a:t>1. </a:t>
            </a:r>
            <a:r>
              <a:rPr lang="ko-KR" altLang="en-US" sz="1500" b="1"/>
              <a:t>주제 선정 이유</a:t>
            </a:r>
            <a:endParaRPr lang="en-US" altLang="ko-KR" sz="1500" b="1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500"/>
              <a:t>   고용구조 변화가 매출액 증감율에 미치는 영향을 분석하고자 함</a:t>
            </a:r>
            <a:r>
              <a:rPr lang="en-US" altLang="ko-KR" sz="150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50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b="1"/>
              <a:t>2. </a:t>
            </a:r>
            <a:r>
              <a:rPr lang="ko-KR" altLang="en-US" sz="1500" b="1"/>
              <a:t>데이터 및 변수 설명</a:t>
            </a:r>
            <a:br>
              <a:rPr lang="en-US" altLang="ko-KR" sz="1500" b="1"/>
            </a:br>
            <a:r>
              <a:rPr lang="en-US" altLang="ko-KR" sz="1500" b="1"/>
              <a:t>   </a:t>
            </a:r>
            <a:r>
              <a:rPr lang="ko-KR" altLang="en-US" sz="1500"/>
              <a:t>독립 변수 </a:t>
            </a:r>
            <a:r>
              <a:rPr lang="en-US" altLang="ko-KR" sz="1500"/>
              <a:t>: </a:t>
            </a:r>
            <a:r>
              <a:rPr lang="ko-KR" altLang="en-US" sz="1500"/>
              <a:t>평균급여증감율</a:t>
            </a:r>
            <a:r>
              <a:rPr lang="en-US" altLang="ko-KR" sz="1500"/>
              <a:t>, </a:t>
            </a:r>
            <a:r>
              <a:rPr lang="ko-KR" altLang="en-US" sz="1500"/>
              <a:t>남성직원수증감율</a:t>
            </a:r>
            <a:r>
              <a:rPr lang="en-US" altLang="ko-KR" sz="1500"/>
              <a:t>, </a:t>
            </a:r>
            <a:r>
              <a:rPr lang="ko-KR" altLang="en-US" sz="1500"/>
              <a:t>여성직원수증감율</a:t>
            </a:r>
            <a:r>
              <a:rPr lang="en-US" altLang="ko-KR" sz="1500"/>
              <a:t>, </a:t>
            </a:r>
            <a:r>
              <a:rPr lang="ko-KR" altLang="en-US" sz="1500"/>
              <a:t>정규직수증감율</a:t>
            </a:r>
            <a:r>
              <a:rPr lang="en-US" altLang="ko-KR" sz="1500"/>
              <a:t>, </a:t>
            </a:r>
            <a:r>
              <a:rPr lang="ko-KR" altLang="en-US" sz="1500"/>
              <a:t>계약직수증감율</a:t>
            </a:r>
            <a:br>
              <a:rPr lang="en-US" altLang="ko-KR" sz="1500"/>
            </a:br>
            <a:r>
              <a:rPr lang="en-US" altLang="ko-KR" sz="1500"/>
              <a:t>   </a:t>
            </a:r>
            <a:r>
              <a:rPr lang="ko-KR" altLang="en-US" sz="1500"/>
              <a:t>종속 변수 </a:t>
            </a:r>
            <a:r>
              <a:rPr lang="en-US" altLang="ko-KR" sz="1500"/>
              <a:t>: </a:t>
            </a:r>
            <a:r>
              <a:rPr lang="ko-KR" altLang="en-US" sz="1500"/>
              <a:t>매출액 증감율</a:t>
            </a:r>
            <a:br>
              <a:rPr lang="en-US" altLang="ko-KR" sz="1500"/>
            </a:br>
            <a:r>
              <a:rPr lang="en-US" altLang="ko-KR" sz="1500"/>
              <a:t>   </a:t>
            </a:r>
            <a:r>
              <a:rPr lang="ko-KR" altLang="en-US" sz="1500"/>
              <a:t>전처리 </a:t>
            </a:r>
            <a:r>
              <a:rPr lang="en-US" altLang="ko-KR" sz="1500"/>
              <a:t>: </a:t>
            </a:r>
            <a:r>
              <a:rPr lang="ko-KR" altLang="en-US" sz="1500"/>
              <a:t>결측치 행 제거</a:t>
            </a:r>
            <a:r>
              <a:rPr lang="en-US" altLang="ko-KR" sz="1500"/>
              <a:t>, Train/Test = 80:20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50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b="1"/>
              <a:t>3. </a:t>
            </a:r>
            <a:r>
              <a:rPr lang="ko-KR" altLang="en-US" sz="1500" b="1"/>
              <a:t>분석 방법</a:t>
            </a:r>
            <a:br>
              <a:rPr lang="en-US" altLang="ko-KR" sz="1500" b="1"/>
            </a:br>
            <a:r>
              <a:rPr lang="en-US" altLang="ko-KR" sz="1500" b="1"/>
              <a:t>   </a:t>
            </a:r>
            <a:r>
              <a:rPr lang="ko-KR" altLang="en-US" sz="1500"/>
              <a:t>해당 주제에서는 </a:t>
            </a:r>
            <a:r>
              <a:rPr lang="en-US" altLang="ko-KR" sz="1500"/>
              <a:t>Random Forest Regressor</a:t>
            </a:r>
            <a:r>
              <a:rPr lang="ko-KR" altLang="en-US" sz="1500"/>
              <a:t>를 사용함</a:t>
            </a:r>
            <a:r>
              <a:rPr lang="en-US" altLang="ko-KR" sz="1500"/>
              <a:t>.</a:t>
            </a:r>
            <a:br>
              <a:rPr lang="en-US" altLang="ko-KR" sz="1500"/>
            </a:br>
            <a:r>
              <a:rPr lang="en-US" altLang="ko-KR" sz="1500"/>
              <a:t>   </a:t>
            </a:r>
            <a:r>
              <a:rPr lang="ko-KR" altLang="en-US" sz="1500"/>
              <a:t>모델은 </a:t>
            </a:r>
            <a:r>
              <a:rPr lang="en-US" altLang="ko-KR" sz="1500"/>
              <a:t>300</a:t>
            </a:r>
            <a:r>
              <a:rPr lang="ko-KR" altLang="en-US" sz="1500"/>
              <a:t>개의 트리를 사용해 학습하였으며</a:t>
            </a:r>
            <a:r>
              <a:rPr lang="en-US" altLang="ko-KR" sz="1500"/>
              <a:t>, </a:t>
            </a:r>
            <a:r>
              <a:rPr lang="ko-KR" altLang="en-US" sz="1500"/>
              <a:t>랜덤 시드를 고정하여 재현성을 확보함</a:t>
            </a:r>
            <a:r>
              <a:rPr lang="en-US" altLang="ko-KR" sz="1500"/>
              <a:t>.</a:t>
            </a:r>
            <a:br>
              <a:rPr lang="en-US" altLang="ko-KR" sz="1500"/>
            </a:br>
            <a:r>
              <a:rPr lang="en-US" altLang="ko-KR" sz="1500"/>
              <a:t>   </a:t>
            </a:r>
            <a:r>
              <a:rPr lang="ko-KR" altLang="en-US" sz="1500"/>
              <a:t>모델 학습 후에는</a:t>
            </a:r>
            <a:r>
              <a:rPr lang="en-US" altLang="ko-KR" sz="1500"/>
              <a:t>MSE, RMSE, R² </a:t>
            </a:r>
            <a:r>
              <a:rPr lang="ko-KR" altLang="en-US" sz="1500"/>
              <a:t>점수를 산출하여 예측 정확도를 평가하였고</a:t>
            </a:r>
            <a:r>
              <a:rPr lang="en-US" altLang="ko-KR" sz="1500"/>
              <a:t>,</a:t>
            </a:r>
            <a:br>
              <a:rPr lang="en-US" altLang="ko-KR" sz="1500"/>
            </a:br>
            <a:r>
              <a:rPr lang="en-US" altLang="ko-KR" sz="1500"/>
              <a:t>   Feature Importance</a:t>
            </a:r>
            <a:r>
              <a:rPr lang="ko-KR" altLang="en-US" sz="1500"/>
              <a:t>를 통해 어떤 변수의 영향력이 큰지 분석함</a:t>
            </a:r>
            <a:r>
              <a:rPr lang="en-US" altLang="ko-KR" sz="1500"/>
              <a:t>.</a:t>
            </a:r>
            <a:br>
              <a:rPr lang="en-US" altLang="ko-KR" sz="1500"/>
            </a:br>
            <a:r>
              <a:rPr lang="en-US" altLang="ko-KR" sz="1500"/>
              <a:t>   </a:t>
            </a:r>
            <a:r>
              <a:rPr lang="ko-KR" altLang="en-US" sz="1500"/>
              <a:t>또한 실제값과 예측값의 관계를 시각화하여 모델의 예측 패턴을 확인함</a:t>
            </a:r>
            <a:r>
              <a:rPr lang="en-US" altLang="ko-KR" sz="15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53514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48C46-3C97-5EB0-C3FF-4662C218B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D8AE24-FFB9-BD70-305E-48429DA44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3-2 </a:t>
            </a:r>
            <a:r>
              <a:rPr lang="ko-KR" altLang="en-US" sz="2800" b="1"/>
              <a:t>고용구조증감율과 매출증감율의 관계 분석 및 회귀 모델링</a:t>
            </a:r>
            <a:endParaRPr lang="ko-KR" altLang="en-US" sz="28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87F3D5-36E4-72BC-C120-021B41601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ko-KR" sz="1400" b="1"/>
              <a:t>4. </a:t>
            </a:r>
            <a:r>
              <a:rPr lang="ko-KR" altLang="en-US" sz="1400" b="1"/>
              <a:t>모델 성능 결과 정리</a:t>
            </a:r>
            <a:br>
              <a:rPr lang="en-US" altLang="ko-KR" sz="1400"/>
            </a:br>
            <a:r>
              <a:rPr lang="en-US" altLang="ko-KR" sz="1400"/>
              <a:t>   MSE = 402,077.61 / RMSE = 634.09 /</a:t>
            </a:r>
            <a:r>
              <a:rPr lang="en-US" altLang="ko-KR" sz="1400" b="1"/>
              <a:t> R² = -0.0037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sz="1400"/>
              <a:t>   R²</a:t>
            </a:r>
            <a:r>
              <a:rPr lang="ko-KR" altLang="en-US" sz="1400"/>
              <a:t>이 음수로 나타났다는 점은 고용구조 증감율만으로 매출액 증감율을 효과적으로 설명하기 어렵다는 것을 의미함</a:t>
            </a:r>
            <a:r>
              <a:rPr lang="en-US" altLang="ko-KR" sz="1400"/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sz="1400"/>
              <a:t>   </a:t>
            </a:r>
            <a:r>
              <a:rPr lang="ko-KR" altLang="en-US" sz="1400"/>
              <a:t>즉</a:t>
            </a:r>
            <a:r>
              <a:rPr lang="en-US" altLang="ko-KR" sz="1400"/>
              <a:t>, </a:t>
            </a:r>
            <a:r>
              <a:rPr lang="ko-KR" altLang="en-US" sz="1400"/>
              <a:t>매출액 증감의 주요 요인은 고용구조보다 외부 요인에 의해 훨씬 더 크게 좌우될 가능성이 높음</a:t>
            </a:r>
            <a:r>
              <a:rPr lang="en-US" altLang="ko-KR" sz="1400"/>
              <a:t>.</a:t>
            </a:r>
          </a:p>
          <a:p>
            <a:pPr marL="0" indent="0">
              <a:lnSpc>
                <a:spcPct val="170000"/>
              </a:lnSpc>
              <a:buNone/>
            </a:pPr>
            <a:endParaRPr lang="en-US" altLang="ko-KR" sz="50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b="1"/>
              <a:t>5. </a:t>
            </a:r>
            <a:r>
              <a:rPr lang="ko-KR" altLang="en-US" sz="1400" b="1"/>
              <a:t>데이터 및 변수 설명</a:t>
            </a:r>
            <a:br>
              <a:rPr lang="en-US" altLang="ko-KR" sz="1400" b="1"/>
            </a:br>
            <a:r>
              <a:rPr lang="en-US" altLang="ko-KR" sz="1400" b="1"/>
              <a:t>   </a:t>
            </a:r>
            <a:r>
              <a:rPr lang="ko-KR" altLang="en-US" sz="1400"/>
              <a:t>변수 중요도 분석 결과</a:t>
            </a:r>
            <a:r>
              <a:rPr lang="en-US" altLang="ko-KR" sz="1400"/>
              <a:t>, </a:t>
            </a:r>
            <a:r>
              <a:rPr lang="ko-KR" altLang="en-US" sz="1400"/>
              <a:t>매출액 증감율에 영향을 미치는 변수</a:t>
            </a:r>
            <a:r>
              <a:rPr lang="en-US" altLang="ko-KR" sz="1400"/>
              <a:t> </a:t>
            </a:r>
            <a:r>
              <a:rPr lang="ko-KR" altLang="en-US" sz="1400"/>
              <a:t>순위는 다음과 같음</a:t>
            </a:r>
            <a:r>
              <a:rPr lang="en-US" altLang="ko-KR" sz="140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400" b="1"/>
              <a:t>   정규직수증감율 </a:t>
            </a:r>
            <a:r>
              <a:rPr lang="en-US" altLang="ko-KR" sz="1400" b="1"/>
              <a:t>&gt; </a:t>
            </a:r>
            <a:r>
              <a:rPr lang="ko-KR" altLang="en-US" sz="1400" b="1"/>
              <a:t>평균급여증감율 </a:t>
            </a:r>
            <a:r>
              <a:rPr lang="en-US" altLang="ko-KR" sz="1400" b="1"/>
              <a:t>&gt; </a:t>
            </a:r>
            <a:r>
              <a:rPr lang="ko-KR" altLang="en-US" sz="1400" b="1"/>
              <a:t>남성직원수증감율 </a:t>
            </a:r>
            <a:r>
              <a:rPr lang="en-US" altLang="ko-KR" sz="1400" b="1"/>
              <a:t>&gt; </a:t>
            </a:r>
            <a:r>
              <a:rPr lang="ko-KR" altLang="en-US" sz="1400" b="1"/>
              <a:t>계약직수증감율 </a:t>
            </a:r>
            <a:r>
              <a:rPr lang="en-US" altLang="ko-KR" sz="1400" b="1"/>
              <a:t>&gt; </a:t>
            </a:r>
            <a:r>
              <a:rPr lang="ko-KR" altLang="en-US" sz="1400" b="1"/>
              <a:t>여성직원수증감율</a:t>
            </a:r>
            <a:endParaRPr lang="en-US" altLang="ko-KR" sz="1400" b="1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400"/>
              <a:t>   특히 정규직 증가율이 가장 큰 영향 요인으로 나타났는데</a:t>
            </a:r>
            <a:r>
              <a:rPr lang="en-US" altLang="ko-KR" sz="1400"/>
              <a:t>, </a:t>
            </a:r>
            <a:r>
              <a:rPr lang="ko-KR" altLang="en-US" sz="1400"/>
              <a:t>이는 기업의 인력 충원 전략이 매출 성장에 기여할 수 있음을 시사함</a:t>
            </a:r>
            <a:r>
              <a:rPr lang="en-US" altLang="ko-KR" sz="1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1617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A29EB-4878-0B3E-1025-0E20D3D31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B7146F-435E-8862-7F20-F3C7C3C0F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3-2 </a:t>
            </a:r>
            <a:r>
              <a:rPr lang="ko-KR" altLang="en-US" sz="2800" b="1"/>
              <a:t>고용구조증감율과 매출증감율의 관계 분석 및 회귀 모델링</a:t>
            </a:r>
            <a:endParaRPr lang="ko-KR" altLang="en-US" sz="28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3C0F3E-05B3-B599-F621-C8E826DE5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ko-KR" sz="1400" b="1"/>
              <a:t>6. </a:t>
            </a:r>
            <a:r>
              <a:rPr lang="ko-KR" altLang="en-US" sz="1400" b="1"/>
              <a:t>실제값 </a:t>
            </a:r>
            <a:r>
              <a:rPr lang="en-US" altLang="ko-KR" sz="1400" b="1"/>
              <a:t>vs </a:t>
            </a:r>
            <a:r>
              <a:rPr lang="ko-KR" altLang="en-US" sz="1400" b="1"/>
              <a:t>예측값 시각화 해석 </a:t>
            </a:r>
            <a:r>
              <a:rPr lang="en-US" altLang="ko-KR" sz="1400" b="1"/>
              <a:t>(</a:t>
            </a:r>
            <a:r>
              <a:rPr lang="ko-KR" altLang="en-US" sz="1400" b="1"/>
              <a:t>로그스케일 산점도</a:t>
            </a:r>
            <a:r>
              <a:rPr lang="en-US" altLang="ko-KR" sz="1400" b="1"/>
              <a:t>)</a:t>
            </a:r>
            <a:br>
              <a:rPr lang="en-US" altLang="ko-KR" sz="1400" b="1"/>
            </a:br>
            <a:r>
              <a:rPr lang="en-US" altLang="ko-KR" sz="1400" b="1"/>
              <a:t>   </a:t>
            </a:r>
            <a:r>
              <a:rPr lang="ko-KR" altLang="en-US" sz="1400"/>
              <a:t>실제값과 예측값을 비교한 산점도는 대부분의 점이 중앙에 밀집되어 나타나는 형태를 보였음</a:t>
            </a:r>
            <a:r>
              <a:rPr lang="en-US" altLang="ko-KR" sz="1400"/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sz="1400"/>
              <a:t>   이는 모델이 고용구조 변화율로부터 매출액 변화율을 충분히 설명하지 못하고 있음을 의미함</a:t>
            </a:r>
            <a:r>
              <a:rPr lang="en-US" altLang="ko-KR" sz="1400"/>
              <a:t>.</a:t>
            </a:r>
          </a:p>
          <a:p>
            <a:pPr marL="0" indent="0">
              <a:lnSpc>
                <a:spcPct val="170000"/>
              </a:lnSpc>
              <a:buNone/>
            </a:pPr>
            <a:endParaRPr lang="en-US" altLang="ko-KR" sz="500" b="1"/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sz="1400" b="1"/>
              <a:t>7. </a:t>
            </a:r>
            <a:r>
              <a:rPr lang="ko-KR" altLang="en-US" sz="1400" b="1"/>
              <a:t>결론</a:t>
            </a:r>
            <a:endParaRPr lang="en-US" altLang="ko-KR" sz="1400" b="1"/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sz="1400"/>
              <a:t>   </a:t>
            </a:r>
            <a:r>
              <a:rPr lang="ko-KR" altLang="en-US" sz="1400"/>
              <a:t>분석 결과</a:t>
            </a:r>
            <a:r>
              <a:rPr lang="en-US" altLang="ko-KR" sz="1400"/>
              <a:t>, </a:t>
            </a:r>
            <a:r>
              <a:rPr lang="ko-KR" altLang="en-US" sz="1400"/>
              <a:t>고용구조 변화율만으로는 매출액 증감율을 설명하기 어렵다는 한계가 나타남</a:t>
            </a:r>
            <a:r>
              <a:rPr lang="en-US" altLang="ko-KR" sz="1400"/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sz="1400"/>
              <a:t>   </a:t>
            </a:r>
            <a:r>
              <a:rPr lang="ko-KR" altLang="en-US" sz="1400"/>
              <a:t>다만 정규직수 증감율 등 일부 변수는 일정한 영향력을 보였으므로</a:t>
            </a:r>
            <a:r>
              <a:rPr lang="en-US" altLang="ko-KR" sz="1400"/>
              <a:t>, </a:t>
            </a:r>
            <a:r>
              <a:rPr lang="ko-KR" altLang="en-US" sz="1400"/>
              <a:t>고용 전략이 기업 실적에 영향을 줄 가능성은 존재함</a:t>
            </a:r>
            <a:r>
              <a:rPr lang="en-US" altLang="ko-KR" sz="1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87889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365F9-0D7A-7810-0258-8A31C06F8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B656EF-83CE-A64F-9E35-75D6134BF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3-2 </a:t>
            </a:r>
            <a:r>
              <a:rPr lang="ko-KR" altLang="en-US" sz="2800" b="1"/>
              <a:t>고용구조증감율과 매출증감율의 관계 분석 및 회귀 모델링</a:t>
            </a:r>
            <a:endParaRPr lang="ko-KR" altLang="en-US" sz="2800"/>
          </a:p>
        </p:txBody>
      </p:sp>
      <p:pic>
        <p:nvPicPr>
          <p:cNvPr id="11" name="그림 1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F1BD716-EA7E-B22C-CBF1-5AC6C0DF9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643" y="1398582"/>
            <a:ext cx="4033102" cy="54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732968-AAEF-AF8B-86A4-60722911A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257" y="1398582"/>
            <a:ext cx="4279639" cy="54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193238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EF811-3478-5005-A258-494F1280E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35FBDA-B413-EA16-A0C2-E7951ED58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3-2 </a:t>
            </a:r>
            <a:r>
              <a:rPr lang="ko-KR" altLang="en-US" sz="2800" b="1"/>
              <a:t>고용구조증감율과 매출증감율의 관계 분석 및 회귀 모델링</a:t>
            </a:r>
            <a:endParaRPr lang="ko-KR" altLang="en-US" sz="280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BEBCC89-6861-194E-8377-55600078D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50" y="1493196"/>
            <a:ext cx="8648700" cy="51816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88040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3EFBC-B3A6-AAFD-3E84-C8DA09867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7186BD-BDFC-B8C2-4C93-651EE763E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3-2 </a:t>
            </a:r>
            <a:r>
              <a:rPr lang="ko-KR" altLang="en-US" sz="2800" b="1"/>
              <a:t>고용구조증감율과 매출증감율의 관계 분석 및 회귀 모델링</a:t>
            </a:r>
            <a:endParaRPr lang="ko-KR" altLang="en-US" sz="280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2504B48D-CE5F-0FED-2168-C2B4B6D6B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3857" y="1392271"/>
            <a:ext cx="5284286" cy="540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00339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86898-0AA6-47AB-9C4A-D72684AF5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2710B9F-8E3E-06C7-A9EB-414998BF5D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CE0E7DD-C4B7-65A9-9C49-18B111378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3200" b="1">
                <a:solidFill>
                  <a:schemeClr val="bg1"/>
                </a:solidFill>
              </a:rPr>
              <a:t>3-3 </a:t>
            </a:r>
            <a:r>
              <a:rPr lang="ko-KR" altLang="en-US" sz="3200" b="1">
                <a:solidFill>
                  <a:schemeClr val="bg1"/>
                </a:solidFill>
              </a:rPr>
              <a:t>고용구조와 영업이익의 관계 분석 및 회귀 모델링</a:t>
            </a:r>
          </a:p>
        </p:txBody>
      </p:sp>
    </p:spTree>
    <p:extLst>
      <p:ext uri="{BB962C8B-B14F-4D97-AF65-F5344CB8AC3E}">
        <p14:creationId xmlns:p14="http://schemas.microsoft.com/office/powerpoint/2010/main" val="33109425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42356-0DF5-C659-06C5-47EC1E939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77EB8-0DD8-CC20-FCDD-49B29DF19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3-3 </a:t>
            </a:r>
            <a:r>
              <a:rPr lang="ko-KR" altLang="en-US" sz="2800" b="1"/>
              <a:t>고용구조와 영업이익의 관계 분석 및 회귀 모델링</a:t>
            </a:r>
            <a:endParaRPr lang="ko-KR" altLang="en-US" sz="28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675498-E686-C4B9-BB1C-A31942C79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altLang="ko-KR" sz="1500" b="1"/>
              <a:t>1. </a:t>
            </a:r>
            <a:r>
              <a:rPr lang="ko-KR" altLang="en-US" sz="1500" b="1"/>
              <a:t>주제 선정 이유</a:t>
            </a:r>
            <a:br>
              <a:rPr lang="en-US" altLang="ko-KR" sz="1500" b="1"/>
            </a:br>
            <a:r>
              <a:rPr lang="en-US" altLang="ko-KR" sz="1500" b="1"/>
              <a:t>   </a:t>
            </a:r>
            <a:r>
              <a:rPr lang="ko-KR" altLang="en-US" sz="1500"/>
              <a:t>고용구조가 영업이익에 미치는 영향을 분석하고자 함</a:t>
            </a:r>
            <a:r>
              <a:rPr lang="en-US" altLang="ko-KR" sz="1500"/>
              <a:t>.</a:t>
            </a:r>
            <a:br>
              <a:rPr lang="en-US" altLang="ko-KR" sz="1500"/>
            </a:br>
            <a:endParaRPr lang="en-US" altLang="ko-KR" sz="500"/>
          </a:p>
          <a:p>
            <a:pPr marL="0" indent="0">
              <a:lnSpc>
                <a:spcPct val="160000"/>
              </a:lnSpc>
              <a:buNone/>
            </a:pPr>
            <a:r>
              <a:rPr lang="en-US" altLang="ko-KR" sz="1500" b="1"/>
              <a:t>2. </a:t>
            </a:r>
            <a:r>
              <a:rPr lang="ko-KR" altLang="en-US" sz="1500" b="1"/>
              <a:t>데이터 및 변수 설명</a:t>
            </a:r>
            <a:br>
              <a:rPr lang="en-US" altLang="ko-KR" sz="1500" b="1"/>
            </a:br>
            <a:r>
              <a:rPr lang="en-US" altLang="ko-KR" sz="1500" b="1"/>
              <a:t>   </a:t>
            </a:r>
            <a:r>
              <a:rPr lang="ko-KR" altLang="en-US" sz="1500"/>
              <a:t>독립 변수 </a:t>
            </a:r>
            <a:r>
              <a:rPr lang="en-US" altLang="ko-KR" sz="1500"/>
              <a:t>: </a:t>
            </a:r>
            <a:r>
              <a:rPr lang="ko-KR" altLang="en-US" sz="1500"/>
              <a:t>평균급여</a:t>
            </a:r>
            <a:r>
              <a:rPr lang="en-US" altLang="ko-KR" sz="1500"/>
              <a:t>, </a:t>
            </a:r>
            <a:r>
              <a:rPr lang="ko-KR" altLang="en-US" sz="1500"/>
              <a:t>남성직원수</a:t>
            </a:r>
            <a:r>
              <a:rPr lang="en-US" altLang="ko-KR" sz="1500"/>
              <a:t>, </a:t>
            </a:r>
            <a:r>
              <a:rPr lang="ko-KR" altLang="en-US" sz="1500"/>
              <a:t>여성직원수</a:t>
            </a:r>
            <a:r>
              <a:rPr lang="en-US" altLang="ko-KR" sz="1500"/>
              <a:t>, </a:t>
            </a:r>
            <a:r>
              <a:rPr lang="ko-KR" altLang="en-US" sz="1500"/>
              <a:t>정규직수</a:t>
            </a:r>
            <a:r>
              <a:rPr lang="en-US" altLang="ko-KR" sz="1500"/>
              <a:t>, </a:t>
            </a:r>
            <a:r>
              <a:rPr lang="ko-KR" altLang="en-US" sz="1500"/>
              <a:t>계약직수</a:t>
            </a:r>
            <a:r>
              <a:rPr lang="en-US" altLang="ko-KR" sz="1500"/>
              <a:t>, </a:t>
            </a:r>
            <a:r>
              <a:rPr lang="ko-KR" altLang="en-US" sz="1500"/>
              <a:t>남성정규직수</a:t>
            </a:r>
            <a:r>
              <a:rPr lang="en-US" altLang="ko-KR" sz="1500"/>
              <a:t>, </a:t>
            </a:r>
            <a:r>
              <a:rPr lang="ko-KR" altLang="en-US" sz="1500"/>
              <a:t>여성정규직수</a:t>
            </a:r>
            <a:r>
              <a:rPr lang="en-US" altLang="ko-KR" sz="1500"/>
              <a:t>, </a:t>
            </a:r>
            <a:r>
              <a:rPr lang="ko-KR" altLang="en-US" sz="1500"/>
              <a:t>남성계약직수</a:t>
            </a:r>
            <a:r>
              <a:rPr lang="en-US" altLang="ko-KR" sz="1500"/>
              <a:t>, </a:t>
            </a:r>
            <a:r>
              <a:rPr lang="ko-KR" altLang="en-US" sz="1500"/>
              <a:t>여성계약직수</a:t>
            </a:r>
            <a:br>
              <a:rPr lang="en-US" altLang="ko-KR" sz="1500"/>
            </a:br>
            <a:r>
              <a:rPr lang="en-US" altLang="ko-KR" sz="1500"/>
              <a:t>   </a:t>
            </a:r>
            <a:r>
              <a:rPr lang="ko-KR" altLang="en-US" sz="1500"/>
              <a:t>종속 변수 </a:t>
            </a:r>
            <a:r>
              <a:rPr lang="en-US" altLang="ko-KR" sz="1500"/>
              <a:t>: </a:t>
            </a:r>
            <a:r>
              <a:rPr lang="ko-KR" altLang="en-US" sz="1500"/>
              <a:t>영업이익</a:t>
            </a:r>
            <a:br>
              <a:rPr lang="en-US" altLang="ko-KR" sz="1500"/>
            </a:br>
            <a:r>
              <a:rPr lang="en-US" altLang="ko-KR" sz="1500"/>
              <a:t>   </a:t>
            </a:r>
            <a:r>
              <a:rPr lang="ko-KR" altLang="en-US" sz="1500"/>
              <a:t>전처리 </a:t>
            </a:r>
            <a:r>
              <a:rPr lang="en-US" altLang="ko-KR" sz="1500"/>
              <a:t>: </a:t>
            </a:r>
            <a:r>
              <a:rPr lang="ko-KR" altLang="en-US" sz="1500"/>
              <a:t>영업이익</a:t>
            </a:r>
            <a:r>
              <a:rPr lang="en-US" altLang="ko-KR" sz="1500"/>
              <a:t>·</a:t>
            </a:r>
            <a:r>
              <a:rPr lang="ko-KR" altLang="en-US" sz="1500"/>
              <a:t>평균급여에서 숫자만 추출</a:t>
            </a:r>
            <a:r>
              <a:rPr lang="en-US" altLang="ko-KR" sz="1500"/>
              <a:t>, 0 </a:t>
            </a:r>
            <a:r>
              <a:rPr lang="ko-KR" altLang="en-US" sz="1500"/>
              <a:t>이하 값 제거 후 로그변환</a:t>
            </a:r>
            <a:r>
              <a:rPr lang="en-US" altLang="ko-KR" sz="1500"/>
              <a:t>, </a:t>
            </a:r>
            <a:r>
              <a:rPr lang="ko-KR" altLang="en-US" sz="1500"/>
              <a:t>결측치 행 제거</a:t>
            </a:r>
            <a:r>
              <a:rPr lang="en-US" altLang="ko-KR" sz="1500"/>
              <a:t>, Train/Test = 80:20, </a:t>
            </a:r>
            <a:r>
              <a:rPr lang="ko-KR" altLang="en-US" sz="1500"/>
              <a:t>종속변수는 </a:t>
            </a:r>
            <a:r>
              <a:rPr lang="en-US" altLang="ko-KR" sz="1500"/>
              <a:t>log(1+y) </a:t>
            </a:r>
            <a:r>
              <a:rPr lang="ko-KR" altLang="en-US" sz="1500"/>
              <a:t>변환</a:t>
            </a:r>
            <a:br>
              <a:rPr lang="en-US" altLang="ko-KR" sz="1500"/>
            </a:br>
            <a:endParaRPr lang="en-US" altLang="ko-KR" sz="500"/>
          </a:p>
          <a:p>
            <a:pPr marL="0" indent="0">
              <a:lnSpc>
                <a:spcPct val="160000"/>
              </a:lnSpc>
              <a:buNone/>
            </a:pPr>
            <a:r>
              <a:rPr lang="en-US" altLang="ko-KR" sz="1600" b="1"/>
              <a:t>3. </a:t>
            </a:r>
            <a:r>
              <a:rPr lang="ko-KR" altLang="en-US" sz="1600" b="1"/>
              <a:t>분석 방법</a:t>
            </a:r>
            <a:br>
              <a:rPr lang="en-US" altLang="ko-KR" sz="1500" b="1"/>
            </a:br>
            <a:r>
              <a:rPr lang="en-US" altLang="ko-KR" sz="1600" b="1"/>
              <a:t>   </a:t>
            </a:r>
            <a:r>
              <a:rPr lang="en-US" altLang="ko-KR" sz="1600"/>
              <a:t>XGBoost </a:t>
            </a:r>
            <a:r>
              <a:rPr lang="ko-KR" altLang="en-US" sz="1600"/>
              <a:t>회귀 모델을 사용하여 영업이익을 예측함</a:t>
            </a:r>
            <a:r>
              <a:rPr lang="en-US" altLang="ko-KR" sz="1600"/>
              <a:t>.</a:t>
            </a:r>
            <a:br>
              <a:rPr lang="en-US" altLang="ko-KR" sz="1600"/>
            </a:br>
            <a:r>
              <a:rPr lang="en-US" altLang="ko-KR" sz="1600"/>
              <a:t>   </a:t>
            </a:r>
            <a:r>
              <a:rPr lang="ko-KR" altLang="en-US" sz="1600"/>
              <a:t>모델은 최적화를 통해 트리 </a:t>
            </a:r>
            <a:r>
              <a:rPr lang="en-US" altLang="ko-KR" sz="1600"/>
              <a:t>400</a:t>
            </a:r>
            <a:r>
              <a:rPr lang="ko-KR" altLang="en-US" sz="1600"/>
              <a:t>개</a:t>
            </a:r>
            <a:r>
              <a:rPr lang="en-US" altLang="ko-KR" sz="1600"/>
              <a:t>, max_depth=6, learning_rate=0.05 </a:t>
            </a:r>
            <a:r>
              <a:rPr lang="ko-KR" altLang="en-US" sz="1600"/>
              <a:t>등 파라미터를 사용함</a:t>
            </a:r>
            <a:r>
              <a:rPr lang="en-US" altLang="ko-KR" sz="1600"/>
              <a:t>.</a:t>
            </a:r>
            <a:br>
              <a:rPr lang="en-US" altLang="ko-KR" sz="1600"/>
            </a:br>
            <a:r>
              <a:rPr lang="en-US" altLang="ko-KR" sz="1600"/>
              <a:t>   Subsample, colsample</a:t>
            </a:r>
            <a:r>
              <a:rPr lang="ko-KR" altLang="en-US" sz="1600"/>
              <a:t>을 통해 과적합을 방지함</a:t>
            </a:r>
            <a:r>
              <a:rPr lang="en-US" altLang="ko-KR" sz="1600"/>
              <a:t>.</a:t>
            </a:r>
            <a:br>
              <a:rPr lang="en-US" altLang="ko-KR" sz="1600"/>
            </a:br>
            <a:r>
              <a:rPr lang="en-US" altLang="ko-KR" sz="1600"/>
              <a:t>   </a:t>
            </a:r>
            <a:r>
              <a:rPr lang="ko-KR" altLang="en-US" sz="1600"/>
              <a:t>학습 후 </a:t>
            </a:r>
            <a:r>
              <a:rPr lang="en-US" altLang="ko-KR" sz="1600"/>
              <a:t>MSE, RMSE, R²</a:t>
            </a:r>
            <a:r>
              <a:rPr lang="ko-KR" altLang="en-US" sz="1600"/>
              <a:t>를 계산하여 모델의 예측력을 평가함</a:t>
            </a:r>
            <a:r>
              <a:rPr lang="en-US" altLang="ko-KR" sz="1600"/>
              <a:t>.</a:t>
            </a:r>
            <a:br>
              <a:rPr lang="en-US" altLang="ko-KR" sz="1600"/>
            </a:br>
            <a:r>
              <a:rPr lang="en-US" altLang="ko-KR" sz="1600"/>
              <a:t>   Feature Importance </a:t>
            </a:r>
            <a:r>
              <a:rPr lang="ko-KR" altLang="en-US" sz="1600"/>
              <a:t>시각화를 통해 어떤 변수가 영업이익에 더 큰 영향을 미쳤는지 파악함</a:t>
            </a:r>
            <a:r>
              <a:rPr lang="en-US" altLang="ko-KR" sz="1600"/>
              <a:t>.</a:t>
            </a:r>
            <a:br>
              <a:rPr lang="en-US" altLang="ko-KR" sz="1600"/>
            </a:br>
            <a:r>
              <a:rPr lang="en-US" altLang="ko-KR" sz="1600"/>
              <a:t>   </a:t>
            </a:r>
            <a:r>
              <a:rPr lang="ko-KR" altLang="en-US" sz="1600"/>
              <a:t>또한 실제값과 예측값을 비교하여 예측 패턴을 시각적으로 확인함</a:t>
            </a:r>
            <a:r>
              <a:rPr lang="en-US" altLang="ko-KR" sz="16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41469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8CD98-C4F1-51B6-B8BE-3A964F1A2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4B3DF1-21F6-FE78-EC9A-CE2D1637B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3-3 </a:t>
            </a:r>
            <a:r>
              <a:rPr lang="ko-KR" altLang="en-US" sz="2800" b="1"/>
              <a:t>고용구조와 영업이익의 관계 분석 및 회귀 모델링</a:t>
            </a:r>
            <a:endParaRPr lang="ko-KR" altLang="en-US" sz="28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04666E-792F-36D2-B038-B8BDC5102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400" b="1"/>
              <a:t>4. </a:t>
            </a:r>
            <a:r>
              <a:rPr lang="ko-KR" altLang="en-US" sz="1400" b="1"/>
              <a:t>모델 성능 결과 정리</a:t>
            </a:r>
            <a:br>
              <a:rPr lang="en-US" altLang="ko-KR" sz="1400"/>
            </a:br>
            <a:r>
              <a:rPr lang="en-US" altLang="ko-KR" sz="1400"/>
              <a:t>   MSE : 3.221e+30 / RMSE : 1794733011232615 / R² : -0.0005165</a:t>
            </a:r>
            <a:br>
              <a:rPr lang="en-US" altLang="ko-KR" sz="1400"/>
            </a:br>
            <a:r>
              <a:rPr lang="en-US" altLang="ko-KR" sz="1400"/>
              <a:t>   R²</a:t>
            </a:r>
            <a:r>
              <a:rPr lang="ko-KR" altLang="en-US" sz="1400"/>
              <a:t>가 </a:t>
            </a:r>
            <a:r>
              <a:rPr lang="en-US" altLang="ko-KR" sz="1400"/>
              <a:t>0 </a:t>
            </a:r>
            <a:r>
              <a:rPr lang="ko-KR" altLang="en-US" sz="1400"/>
              <a:t>이하이며</a:t>
            </a:r>
            <a:r>
              <a:rPr lang="en-US" altLang="ko-KR" sz="1400"/>
              <a:t>, </a:t>
            </a:r>
            <a:r>
              <a:rPr lang="ko-KR" altLang="en-US" sz="1400"/>
              <a:t>오차가 매우 크게 나타나는 것을 볼 때 현재 사용한 고용구조 절대 지표만으로는 영업이익을 설명할 수 없으며</a:t>
            </a:r>
            <a:r>
              <a:rPr lang="en-US" altLang="ko-KR" sz="1400"/>
              <a:t>,</a:t>
            </a:r>
            <a:br>
              <a:rPr lang="en-US" altLang="ko-KR" sz="1400"/>
            </a:br>
            <a:r>
              <a:rPr lang="en-US" altLang="ko-KR" sz="1400"/>
              <a:t>   XGBoost</a:t>
            </a:r>
            <a:r>
              <a:rPr lang="ko-KR" altLang="en-US" sz="1400"/>
              <a:t>와 같은 고성능 모델에서도 의미 있는 예측력을 확보하지 못했음을 의미함</a:t>
            </a:r>
            <a:r>
              <a:rPr lang="en-US" altLang="ko-KR" sz="1400"/>
              <a:t>.</a:t>
            </a:r>
            <a:br>
              <a:rPr lang="en-US" altLang="ko-KR" sz="1400"/>
            </a:br>
            <a:r>
              <a:rPr lang="en-US" altLang="ko-KR" sz="1400"/>
              <a:t>   </a:t>
            </a:r>
            <a:r>
              <a:rPr lang="ko-KR" altLang="en-US" sz="1400"/>
              <a:t>이는 영업이익이 고용구조 외부의 요인에 크게 좌우된다는 점을 시사함</a:t>
            </a:r>
            <a:r>
              <a:rPr lang="en-US" altLang="ko-KR" sz="140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50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b="1"/>
              <a:t>5. </a:t>
            </a:r>
            <a:r>
              <a:rPr lang="ko-KR" altLang="en-US" sz="1400" b="1"/>
              <a:t>데이터 및 변수 설명</a:t>
            </a:r>
            <a:br>
              <a:rPr lang="en-US" altLang="ko-KR" sz="1400" b="1"/>
            </a:br>
            <a:r>
              <a:rPr lang="en-US" altLang="ko-KR" sz="1400" b="1"/>
              <a:t>   </a:t>
            </a:r>
            <a:r>
              <a:rPr lang="ko-KR" altLang="en-US" sz="1400"/>
              <a:t>변수 중요도 분석 결과</a:t>
            </a:r>
            <a:r>
              <a:rPr lang="en-US" altLang="ko-KR" sz="1400"/>
              <a:t>, </a:t>
            </a:r>
            <a:r>
              <a:rPr lang="ko-KR" altLang="en-US" sz="1400"/>
              <a:t>매출액 증감율에 영향을 미치는 변수</a:t>
            </a:r>
            <a:r>
              <a:rPr lang="en-US" altLang="ko-KR" sz="1400"/>
              <a:t> </a:t>
            </a:r>
            <a:r>
              <a:rPr lang="ko-KR" altLang="en-US" sz="1400"/>
              <a:t>순위는 다음과 같음</a:t>
            </a:r>
            <a:r>
              <a:rPr lang="en-US" altLang="ko-KR" sz="1400"/>
              <a:t>.</a:t>
            </a:r>
            <a:br>
              <a:rPr lang="en-US" altLang="ko-KR" sz="1400"/>
            </a:br>
            <a:r>
              <a:rPr lang="en-US" altLang="ko-KR" sz="1400"/>
              <a:t>   [</a:t>
            </a:r>
            <a:r>
              <a:rPr lang="ko-KR" altLang="en-US" sz="1300" b="1"/>
              <a:t>정규직수 </a:t>
            </a:r>
            <a:r>
              <a:rPr lang="en-US" altLang="ko-KR" sz="1300" b="1"/>
              <a:t>&gt; </a:t>
            </a:r>
            <a:r>
              <a:rPr lang="ko-KR" altLang="en-US" sz="1300" b="1"/>
              <a:t>남성정규직수 </a:t>
            </a:r>
            <a:r>
              <a:rPr lang="en-US" altLang="ko-KR" sz="1300" b="1"/>
              <a:t>&gt; </a:t>
            </a:r>
            <a:r>
              <a:rPr lang="ko-KR" altLang="en-US" sz="1300" b="1"/>
              <a:t>남성직원수 </a:t>
            </a:r>
            <a:r>
              <a:rPr lang="en-US" altLang="ko-KR" sz="1300" b="1"/>
              <a:t>&gt; </a:t>
            </a:r>
            <a:r>
              <a:rPr lang="ko-KR" altLang="en-US" sz="1300" b="1"/>
              <a:t>평균급여 </a:t>
            </a:r>
            <a:r>
              <a:rPr lang="en-US" altLang="ko-KR" sz="1300" b="1"/>
              <a:t>&gt; </a:t>
            </a:r>
            <a:r>
              <a:rPr lang="ko-KR" altLang="en-US" sz="1300" b="1"/>
              <a:t>여성정규직수 </a:t>
            </a:r>
            <a:r>
              <a:rPr lang="en-US" altLang="ko-KR" sz="1300" b="1"/>
              <a:t>&gt; </a:t>
            </a:r>
            <a:r>
              <a:rPr lang="ko-KR" altLang="en-US" sz="1300" b="1"/>
              <a:t>여성계약직수 </a:t>
            </a:r>
            <a:r>
              <a:rPr lang="en-US" altLang="ko-KR" sz="1300" b="1"/>
              <a:t>&gt; </a:t>
            </a:r>
            <a:r>
              <a:rPr lang="ko-KR" altLang="en-US" sz="1300" b="1"/>
              <a:t>남성계약직수 </a:t>
            </a:r>
            <a:r>
              <a:rPr lang="en-US" altLang="ko-KR" sz="1300" b="1"/>
              <a:t>&gt; </a:t>
            </a:r>
            <a:r>
              <a:rPr lang="ko-KR" altLang="en-US" sz="1300" b="1"/>
              <a:t>여성직원수 </a:t>
            </a:r>
            <a:r>
              <a:rPr lang="en-US" altLang="ko-KR" sz="1300" b="1"/>
              <a:t>&gt; </a:t>
            </a:r>
            <a:r>
              <a:rPr lang="ko-KR" altLang="en-US" sz="1300" b="1"/>
              <a:t>계약직수</a:t>
            </a:r>
            <a:r>
              <a:rPr lang="en-US" altLang="ko-KR" sz="1300" b="1"/>
              <a:t>]</a:t>
            </a:r>
            <a:br>
              <a:rPr lang="en-US" altLang="ko-KR" sz="1400" b="1"/>
            </a:br>
            <a:r>
              <a:rPr lang="en-US" altLang="ko-KR" sz="1400" b="1"/>
              <a:t>   </a:t>
            </a:r>
            <a:r>
              <a:rPr lang="ko-KR" altLang="en-US" sz="1300"/>
              <a:t>정규직 수 관련 변수가 높은 중요도를 보였는데</a:t>
            </a:r>
            <a:r>
              <a:rPr lang="en-US" altLang="ko-KR" sz="1300"/>
              <a:t>, </a:t>
            </a:r>
            <a:r>
              <a:rPr lang="ko-KR" altLang="en-US" sz="1300"/>
              <a:t>이는 고용의 안정성 또는 기업 규모가 영업이익과 연관이 있을 수 있음을 시사함</a:t>
            </a:r>
            <a:r>
              <a:rPr lang="en-US" altLang="ko-KR" sz="1300"/>
              <a:t>.</a:t>
            </a:r>
            <a:br>
              <a:rPr lang="en-US" altLang="ko-KR" sz="1300"/>
            </a:br>
            <a:r>
              <a:rPr lang="en-US" altLang="ko-KR" sz="1300"/>
              <a:t>   </a:t>
            </a:r>
            <a:r>
              <a:rPr lang="ko-KR" altLang="en-US" sz="1300"/>
              <a:t>하지만 전체 모델 성능이 낮기 때문에 단일 변수의 영향력도 제한적으로 해석해야 함</a:t>
            </a:r>
            <a:r>
              <a:rPr lang="en-US" altLang="ko-KR" sz="13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08501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A6C67-1C37-C4B6-ACF2-B9DE161EF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778DA-3C06-1A63-C50C-23F17335F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3-3 </a:t>
            </a:r>
            <a:r>
              <a:rPr lang="ko-KR" altLang="en-US" sz="2800" b="1"/>
              <a:t>고용구조와 영업이익의 관계 분석 및 회귀 모델링</a:t>
            </a:r>
            <a:endParaRPr lang="ko-KR" altLang="en-US" sz="28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9D55D9-885D-C4BA-D24D-B1DB23195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ko-KR" sz="1400" b="1"/>
              <a:t>6. </a:t>
            </a:r>
            <a:r>
              <a:rPr lang="ko-KR" altLang="en-US" sz="1400" b="1"/>
              <a:t>실제값 </a:t>
            </a:r>
            <a:r>
              <a:rPr lang="en-US" altLang="ko-KR" sz="1400" b="1"/>
              <a:t>vs </a:t>
            </a:r>
            <a:r>
              <a:rPr lang="ko-KR" altLang="en-US" sz="1400" b="1"/>
              <a:t>예측값 시각화 해석 </a:t>
            </a:r>
            <a:r>
              <a:rPr lang="en-US" altLang="ko-KR" sz="1400" b="1"/>
              <a:t>(</a:t>
            </a:r>
            <a:r>
              <a:rPr lang="ko-KR" altLang="en-US" sz="1400" b="1"/>
              <a:t>로그스케일 산점도</a:t>
            </a:r>
            <a:r>
              <a:rPr lang="en-US" altLang="ko-KR" sz="1400" b="1"/>
              <a:t>)</a:t>
            </a:r>
            <a:br>
              <a:rPr lang="en-US" altLang="ko-KR" sz="1400" b="1"/>
            </a:br>
            <a:r>
              <a:rPr lang="en-US" altLang="ko-KR" sz="1400" b="1"/>
              <a:t>   </a:t>
            </a:r>
            <a:r>
              <a:rPr lang="ko-KR" altLang="en-US" sz="1400"/>
              <a:t>실제값과 예측값의 비교 그래프에서 점들이 대각선에서 크게 벗어나 있으며</a:t>
            </a:r>
            <a:r>
              <a:rPr lang="en-US" altLang="ko-KR" sz="1400"/>
              <a:t>,</a:t>
            </a:r>
            <a:br>
              <a:rPr lang="en-US" altLang="ko-KR" sz="1400"/>
            </a:br>
            <a:r>
              <a:rPr lang="en-US" altLang="ko-KR" sz="1400"/>
              <a:t>   </a:t>
            </a:r>
            <a:r>
              <a:rPr lang="ko-KR" altLang="en-US" sz="1400"/>
              <a:t>전체적으로 넓게 퍼져 있어 모델이 실제 영업이익 규모를 제대로 설명하지 못하고 있음</a:t>
            </a:r>
            <a:r>
              <a:rPr lang="en-US" altLang="ko-KR" sz="1400"/>
              <a:t>.</a:t>
            </a:r>
            <a:br>
              <a:rPr lang="en-US" altLang="ko-KR" sz="1400"/>
            </a:br>
            <a:r>
              <a:rPr lang="en-US" altLang="ko-KR" sz="1400"/>
              <a:t>   </a:t>
            </a:r>
            <a:r>
              <a:rPr lang="ko-KR" altLang="en-US" sz="1400"/>
              <a:t>특히 고이익 구간에서 예측 오차가 매우 크게 나타나 </a:t>
            </a:r>
            <a:r>
              <a:rPr lang="en-US" altLang="ko-KR" sz="1400"/>
              <a:t>XGBoost </a:t>
            </a:r>
            <a:r>
              <a:rPr lang="ko-KR" altLang="en-US" sz="1400"/>
              <a:t>모델이 패턴을 포착하지 못함을 알 수 있음</a:t>
            </a:r>
            <a:r>
              <a:rPr lang="en-US" altLang="ko-KR" sz="1400"/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sz="500" b="1"/>
              <a:t>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sz="1400" b="1"/>
              <a:t>7. </a:t>
            </a:r>
            <a:r>
              <a:rPr lang="ko-KR" altLang="en-US" sz="1400" b="1"/>
              <a:t>결론</a:t>
            </a:r>
            <a:br>
              <a:rPr lang="en-US" altLang="ko-KR" sz="1400" b="1"/>
            </a:br>
            <a:r>
              <a:rPr lang="en-US" altLang="ko-KR" sz="1400" b="1"/>
              <a:t>   </a:t>
            </a:r>
            <a:r>
              <a:rPr lang="ko-KR" altLang="en-US" sz="1400"/>
              <a:t>이번 분석에서는 고용구조를 기반으로 </a:t>
            </a:r>
            <a:r>
              <a:rPr lang="en-US" altLang="ko-KR" sz="1400"/>
              <a:t>XGBoost </a:t>
            </a:r>
            <a:r>
              <a:rPr lang="ko-KR" altLang="en-US" sz="1400"/>
              <a:t>모델을 학습하였으나</a:t>
            </a:r>
            <a:r>
              <a:rPr lang="en-US" altLang="ko-KR" sz="1400"/>
              <a:t>, </a:t>
            </a:r>
            <a:r>
              <a:rPr lang="ko-KR" altLang="en-US" sz="1400"/>
              <a:t>영업이익을 예측하기에는 한계가 매우 큰 것으로 나타남</a:t>
            </a:r>
            <a:r>
              <a:rPr lang="en-US" altLang="ko-KR" sz="1400"/>
              <a:t>.</a:t>
            </a:r>
            <a:br>
              <a:rPr lang="en-US" altLang="ko-KR" sz="1400"/>
            </a:br>
            <a:r>
              <a:rPr lang="en-US" altLang="ko-KR" sz="1400"/>
              <a:t>   </a:t>
            </a:r>
            <a:r>
              <a:rPr lang="ko-KR" altLang="en-US" sz="1400"/>
              <a:t>이는 영업이익이 고용지표보다 훨씬 복잡하고 다양한 외부 요인에 의해 결정되기 때문인 것으로 판단되며</a:t>
            </a:r>
            <a:r>
              <a:rPr lang="en-US" altLang="ko-KR" sz="1400"/>
              <a:t>,</a:t>
            </a:r>
            <a:br>
              <a:rPr lang="en-US" altLang="ko-KR" sz="1400"/>
            </a:br>
            <a:r>
              <a:rPr lang="en-US" altLang="ko-KR" sz="1400"/>
              <a:t>   </a:t>
            </a:r>
            <a:r>
              <a:rPr lang="ko-KR" altLang="en-US" sz="1400"/>
              <a:t>향후 추가적인 재무 및 사업 지표가 포함되어야 영업이익과의 실질적인 관계를 보다 정확하게 분석할 수 있을 것으로 판단됨</a:t>
            </a:r>
            <a:r>
              <a:rPr lang="en-US" altLang="ko-KR" sz="1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68343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99418-77F4-C723-A2E8-307D8CB2A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195017-2A10-21B1-3EBA-B255F36AB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3-3 </a:t>
            </a:r>
            <a:r>
              <a:rPr lang="ko-KR" altLang="en-US" sz="2800" b="1"/>
              <a:t>고용구조와 영업이익의 관계 분석 및 회귀 모델링</a:t>
            </a:r>
            <a:endParaRPr lang="ko-KR" altLang="en-US" sz="2800"/>
          </a:p>
        </p:txBody>
      </p:sp>
      <p:pic>
        <p:nvPicPr>
          <p:cNvPr id="4" name="그림 3" descr="텍스트, 스크린샷, 폰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A92307-C69B-25E1-E5A8-EFF879864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63" y="1398582"/>
            <a:ext cx="3455769" cy="54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68A452D-70D2-C324-0F23-D5BC44625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641" y="1398582"/>
            <a:ext cx="2743343" cy="54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9255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FD792-F01A-742A-4F2D-737414F18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2863D-52D3-F919-4EA5-9D9B7E05E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3-3 </a:t>
            </a:r>
            <a:r>
              <a:rPr lang="ko-KR" altLang="en-US" sz="2800" b="1"/>
              <a:t>고용구조와 영업이익의 관계 분석 및 회귀 모델링</a:t>
            </a:r>
            <a:endParaRPr lang="ko-KR" altLang="en-US" sz="280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2D7C942-0869-E2BE-5D52-241DAC8C7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217" y="1351537"/>
            <a:ext cx="7669565" cy="54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380855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9C8D6-22AE-D9D6-AC37-1022D597F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BDB28C-3EF2-556D-DA88-CF17E7D31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3-3 </a:t>
            </a:r>
            <a:r>
              <a:rPr lang="ko-KR" altLang="en-US" sz="2800" b="1"/>
              <a:t>고용구조와 영업이익의 관계 분석 및 회귀 모델링</a:t>
            </a:r>
            <a:endParaRPr lang="ko-KR" altLang="en-US" sz="280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AC352C0E-F09B-39B9-4FA5-E493E71FA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428" y="1392271"/>
            <a:ext cx="5315143" cy="540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81466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E3B80-4799-95B6-CDDD-9B38296F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E95A3B0-D6F1-C580-966D-D2C95E4CA9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953D99BD-41D2-C794-907A-EFF533924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3200" b="1">
                <a:solidFill>
                  <a:schemeClr val="bg1"/>
                </a:solidFill>
              </a:rPr>
              <a:t>3-4 </a:t>
            </a:r>
            <a:r>
              <a:rPr lang="ko-KR" altLang="en-US" sz="3200" b="1">
                <a:solidFill>
                  <a:schemeClr val="bg1"/>
                </a:solidFill>
              </a:rPr>
              <a:t>고용구조와 매출액의 관계 분석 및 회귀 모델링</a:t>
            </a:r>
          </a:p>
        </p:txBody>
      </p:sp>
    </p:spTree>
    <p:extLst>
      <p:ext uri="{BB962C8B-B14F-4D97-AF65-F5344CB8AC3E}">
        <p14:creationId xmlns:p14="http://schemas.microsoft.com/office/powerpoint/2010/main" val="30342915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CE334-EEFC-E832-B725-945985F69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7BDEBB-8160-ADBD-3263-FAE2F315A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3-4 </a:t>
            </a:r>
            <a:r>
              <a:rPr lang="ko-KR" altLang="en-US" sz="2800" b="1"/>
              <a:t>고용구조와 매출액의 관계 분석 및 회귀 모델링</a:t>
            </a:r>
            <a:endParaRPr lang="ko-KR" altLang="en-US" sz="28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AF3B3E-BC19-78F7-A365-FE8A57CB1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altLang="ko-KR" sz="1500" b="1"/>
              <a:t>1. </a:t>
            </a:r>
            <a:r>
              <a:rPr lang="ko-KR" altLang="en-US" sz="1500" b="1"/>
              <a:t>주제 선정 이유</a:t>
            </a:r>
            <a:br>
              <a:rPr lang="en-US" altLang="ko-KR" sz="1500" b="1"/>
            </a:br>
            <a:r>
              <a:rPr lang="en-US" altLang="ko-KR" sz="1500" b="1"/>
              <a:t>   </a:t>
            </a:r>
            <a:r>
              <a:rPr lang="ko-KR" altLang="en-US" sz="1500"/>
              <a:t>고용구조가 매출액에 미치는 영향을 분석하고자 함</a:t>
            </a:r>
            <a:r>
              <a:rPr lang="en-US" altLang="ko-KR" sz="1500"/>
              <a:t>.</a:t>
            </a:r>
            <a:br>
              <a:rPr lang="en-US" altLang="ko-KR" sz="1500"/>
            </a:br>
            <a:endParaRPr lang="en-US" altLang="ko-KR" sz="500"/>
          </a:p>
          <a:p>
            <a:pPr marL="0" indent="0">
              <a:lnSpc>
                <a:spcPct val="160000"/>
              </a:lnSpc>
              <a:buNone/>
            </a:pPr>
            <a:r>
              <a:rPr lang="en-US" altLang="ko-KR" sz="1500" b="1"/>
              <a:t>2. </a:t>
            </a:r>
            <a:r>
              <a:rPr lang="ko-KR" altLang="en-US" sz="1500" b="1"/>
              <a:t>데이터 및 변수 설명</a:t>
            </a:r>
            <a:br>
              <a:rPr lang="en-US" altLang="ko-KR" sz="1500" b="1"/>
            </a:br>
            <a:r>
              <a:rPr lang="en-US" altLang="ko-KR" sz="1500" b="1"/>
              <a:t>   </a:t>
            </a:r>
            <a:r>
              <a:rPr lang="ko-KR" altLang="en-US" sz="1500"/>
              <a:t>독립 변수 </a:t>
            </a:r>
            <a:r>
              <a:rPr lang="en-US" altLang="ko-KR" sz="1500"/>
              <a:t>: </a:t>
            </a:r>
            <a:r>
              <a:rPr lang="ko-KR" altLang="en-US" sz="1500"/>
              <a:t>평균급여</a:t>
            </a:r>
            <a:r>
              <a:rPr lang="en-US" altLang="ko-KR" sz="1500"/>
              <a:t>, </a:t>
            </a:r>
            <a:r>
              <a:rPr lang="ko-KR" altLang="en-US" sz="1500"/>
              <a:t>남성직원수</a:t>
            </a:r>
            <a:r>
              <a:rPr lang="en-US" altLang="ko-KR" sz="1500"/>
              <a:t>, </a:t>
            </a:r>
            <a:r>
              <a:rPr lang="ko-KR" altLang="en-US" sz="1500"/>
              <a:t>여성직원수</a:t>
            </a:r>
            <a:r>
              <a:rPr lang="en-US" altLang="ko-KR" sz="1500"/>
              <a:t>, </a:t>
            </a:r>
            <a:r>
              <a:rPr lang="ko-KR" altLang="en-US" sz="1500"/>
              <a:t>정규직수</a:t>
            </a:r>
            <a:r>
              <a:rPr lang="en-US" altLang="ko-KR" sz="1500"/>
              <a:t>, </a:t>
            </a:r>
            <a:r>
              <a:rPr lang="ko-KR" altLang="en-US" sz="1500"/>
              <a:t>계약직수</a:t>
            </a:r>
            <a:r>
              <a:rPr lang="en-US" altLang="ko-KR" sz="1500"/>
              <a:t>,</a:t>
            </a:r>
            <a:r>
              <a:rPr lang="ko-KR" altLang="en-US" sz="1500"/>
              <a:t>남성정규직수</a:t>
            </a:r>
            <a:r>
              <a:rPr lang="en-US" altLang="ko-KR" sz="1500"/>
              <a:t>, </a:t>
            </a:r>
            <a:r>
              <a:rPr lang="ko-KR" altLang="en-US" sz="1500"/>
              <a:t>여성정규직수</a:t>
            </a:r>
            <a:r>
              <a:rPr lang="en-US" altLang="ko-KR" sz="1500"/>
              <a:t>, </a:t>
            </a:r>
            <a:r>
              <a:rPr lang="ko-KR" altLang="en-US" sz="1500"/>
              <a:t>남성계약직수</a:t>
            </a:r>
            <a:r>
              <a:rPr lang="en-US" altLang="ko-KR" sz="1500"/>
              <a:t>, </a:t>
            </a:r>
            <a:r>
              <a:rPr lang="ko-KR" altLang="en-US" sz="1500"/>
              <a:t>여성계약직수</a:t>
            </a:r>
            <a:br>
              <a:rPr lang="en-US" altLang="ko-KR" sz="1500"/>
            </a:br>
            <a:r>
              <a:rPr lang="en-US" altLang="ko-KR" sz="1500"/>
              <a:t>   </a:t>
            </a:r>
            <a:r>
              <a:rPr lang="ko-KR" altLang="en-US" sz="1500"/>
              <a:t>종속 변수 </a:t>
            </a:r>
            <a:r>
              <a:rPr lang="en-US" altLang="ko-KR" sz="1500"/>
              <a:t>: </a:t>
            </a:r>
            <a:r>
              <a:rPr lang="ko-KR" altLang="en-US" sz="1500"/>
              <a:t>매출액</a:t>
            </a:r>
            <a:br>
              <a:rPr lang="en-US" altLang="ko-KR" sz="1500"/>
            </a:br>
            <a:r>
              <a:rPr lang="en-US" altLang="ko-KR" sz="1500"/>
              <a:t>   </a:t>
            </a:r>
            <a:r>
              <a:rPr lang="ko-KR" altLang="en-US" sz="1500"/>
              <a:t>전처리 </a:t>
            </a:r>
            <a:r>
              <a:rPr lang="en-US" altLang="ko-KR" sz="1500"/>
              <a:t>: </a:t>
            </a:r>
            <a:r>
              <a:rPr lang="ko-KR" altLang="en-US" sz="1500"/>
              <a:t>매출액</a:t>
            </a:r>
            <a:r>
              <a:rPr lang="en-US" altLang="ko-KR" sz="1500"/>
              <a:t>·</a:t>
            </a:r>
            <a:r>
              <a:rPr lang="ko-KR" altLang="en-US" sz="1500"/>
              <a:t>평균급여에서 숫자만 추출</a:t>
            </a:r>
            <a:r>
              <a:rPr lang="en-US" altLang="ko-KR" sz="1500"/>
              <a:t>, 0 </a:t>
            </a:r>
            <a:r>
              <a:rPr lang="ko-KR" altLang="en-US" sz="1500"/>
              <a:t>이하 값 제거 후 로그변환</a:t>
            </a:r>
            <a:r>
              <a:rPr lang="en-US" altLang="ko-KR" sz="1500"/>
              <a:t>, </a:t>
            </a:r>
            <a:r>
              <a:rPr lang="ko-KR" altLang="en-US" sz="1500"/>
              <a:t>결측치 행 제거</a:t>
            </a:r>
            <a:r>
              <a:rPr lang="en-US" altLang="ko-KR" sz="1500"/>
              <a:t>, Train/Test = 80:20, </a:t>
            </a:r>
            <a:r>
              <a:rPr lang="ko-KR" altLang="en-US" sz="1500"/>
              <a:t>종속변수는 </a:t>
            </a:r>
            <a:r>
              <a:rPr lang="en-US" altLang="ko-KR" sz="1500"/>
              <a:t>log(1+y) </a:t>
            </a:r>
            <a:r>
              <a:rPr lang="ko-KR" altLang="en-US" sz="1500"/>
              <a:t>변환</a:t>
            </a:r>
            <a:br>
              <a:rPr lang="en-US" altLang="ko-KR" sz="1500"/>
            </a:br>
            <a:endParaRPr lang="en-US" altLang="ko-KR" sz="500"/>
          </a:p>
          <a:p>
            <a:pPr marL="0" indent="0">
              <a:lnSpc>
                <a:spcPct val="160000"/>
              </a:lnSpc>
              <a:buNone/>
            </a:pPr>
            <a:r>
              <a:rPr lang="en-US" altLang="ko-KR" sz="1600" b="1"/>
              <a:t>3. </a:t>
            </a:r>
            <a:r>
              <a:rPr lang="ko-KR" altLang="en-US" sz="1600" b="1"/>
              <a:t>분석 방법</a:t>
            </a:r>
            <a:br>
              <a:rPr lang="en-US" altLang="ko-KR" sz="1500" b="1"/>
            </a:br>
            <a:r>
              <a:rPr lang="en-US" altLang="ko-KR" sz="1600" b="1"/>
              <a:t>   </a:t>
            </a:r>
            <a:r>
              <a:rPr lang="en-US" altLang="ko-KR" sz="1600"/>
              <a:t>XGBoost </a:t>
            </a:r>
            <a:r>
              <a:rPr lang="ko-KR" altLang="en-US" sz="1600"/>
              <a:t>회귀 모델을 사용하여 영업이익을 예측함</a:t>
            </a:r>
            <a:r>
              <a:rPr lang="en-US" altLang="ko-KR" sz="1600"/>
              <a:t>.</a:t>
            </a:r>
            <a:br>
              <a:rPr lang="en-US" altLang="ko-KR" sz="1600"/>
            </a:br>
            <a:r>
              <a:rPr lang="en-US" altLang="ko-KR" sz="1600"/>
              <a:t>   </a:t>
            </a:r>
            <a:r>
              <a:rPr lang="ko-KR" altLang="en-US" sz="1600"/>
              <a:t>모델은 최적화를 통해 트리 </a:t>
            </a:r>
            <a:r>
              <a:rPr lang="en-US" altLang="ko-KR" sz="1600"/>
              <a:t>400</a:t>
            </a:r>
            <a:r>
              <a:rPr lang="ko-KR" altLang="en-US" sz="1600"/>
              <a:t>개</a:t>
            </a:r>
            <a:r>
              <a:rPr lang="en-US" altLang="ko-KR" sz="1600"/>
              <a:t>, max_depth=6, learning_rate=0.05 </a:t>
            </a:r>
            <a:r>
              <a:rPr lang="ko-KR" altLang="en-US" sz="1600"/>
              <a:t>등 파라미터를 사용함</a:t>
            </a:r>
            <a:r>
              <a:rPr lang="en-US" altLang="ko-KR" sz="1600"/>
              <a:t>.</a:t>
            </a:r>
            <a:br>
              <a:rPr lang="en-US" altLang="ko-KR" sz="1600"/>
            </a:br>
            <a:r>
              <a:rPr lang="en-US" altLang="ko-KR" sz="1600"/>
              <a:t>   Subsample, colsample</a:t>
            </a:r>
            <a:r>
              <a:rPr lang="ko-KR" altLang="en-US" sz="1600"/>
              <a:t>을 통해 과적합을 방지함</a:t>
            </a:r>
            <a:r>
              <a:rPr lang="en-US" altLang="ko-KR" sz="1600"/>
              <a:t>.</a:t>
            </a:r>
            <a:br>
              <a:rPr lang="en-US" altLang="ko-KR" sz="1600"/>
            </a:br>
            <a:r>
              <a:rPr lang="en-US" altLang="ko-KR" sz="1600"/>
              <a:t>   </a:t>
            </a:r>
            <a:r>
              <a:rPr lang="ko-KR" altLang="en-US" sz="1600"/>
              <a:t>학습 후 </a:t>
            </a:r>
            <a:r>
              <a:rPr lang="en-US" altLang="ko-KR" sz="1600"/>
              <a:t>MSE, RMSE, R²</a:t>
            </a:r>
            <a:r>
              <a:rPr lang="ko-KR" altLang="en-US" sz="1600"/>
              <a:t>를 계산하여 모델의 예측력을 평가함</a:t>
            </a:r>
            <a:r>
              <a:rPr lang="en-US" altLang="ko-KR" sz="1600"/>
              <a:t>.</a:t>
            </a:r>
            <a:br>
              <a:rPr lang="en-US" altLang="ko-KR" sz="1600"/>
            </a:br>
            <a:r>
              <a:rPr lang="en-US" altLang="ko-KR" sz="1600"/>
              <a:t>   Feature Importance </a:t>
            </a:r>
            <a:r>
              <a:rPr lang="ko-KR" altLang="en-US" sz="1600"/>
              <a:t>시각화를 통해 어떤 변수가 영업이익에 더 큰 영향을 미쳤는지 파악함</a:t>
            </a:r>
            <a:r>
              <a:rPr lang="en-US" altLang="ko-KR" sz="1600"/>
              <a:t>.</a:t>
            </a:r>
            <a:br>
              <a:rPr lang="en-US" altLang="ko-KR" sz="1600"/>
            </a:br>
            <a:r>
              <a:rPr lang="en-US" altLang="ko-KR" sz="1600"/>
              <a:t>   </a:t>
            </a:r>
            <a:r>
              <a:rPr lang="ko-KR" altLang="en-US" sz="1600"/>
              <a:t>또한 실제값과 예측값을 비교하여 예측 패턴을 시각적으로 확인함</a:t>
            </a:r>
            <a:r>
              <a:rPr lang="en-US" altLang="ko-KR" sz="16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63549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772DF-08CE-1C92-DA4C-BF52EAF4D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5A2B04-06DE-7805-51DD-8861243F3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3-4 </a:t>
            </a:r>
            <a:r>
              <a:rPr lang="ko-KR" altLang="en-US" sz="2800" b="1"/>
              <a:t>고용구조와 매출액의 관계 분석 및 회귀 모델링</a:t>
            </a:r>
            <a:endParaRPr lang="ko-KR" altLang="en-US" sz="28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119C34-CBCB-4A3E-BC01-5CA9DEC2E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400" b="1"/>
              <a:t>4. </a:t>
            </a:r>
            <a:r>
              <a:rPr lang="ko-KR" altLang="en-US" sz="1400" b="1"/>
              <a:t>모델 성능 결과 정리</a:t>
            </a:r>
            <a:br>
              <a:rPr lang="en-US" altLang="ko-KR" sz="1400"/>
            </a:br>
            <a:r>
              <a:rPr lang="en-US" altLang="ko-KR" sz="1400"/>
              <a:t>   MSE : 1.00139e+27 / RMSE : 31644878682239 / R² : 0.8685197784375716</a:t>
            </a:r>
            <a:br>
              <a:rPr lang="en-US" altLang="ko-KR" sz="1400"/>
            </a:br>
            <a:r>
              <a:rPr lang="en-US" altLang="ko-KR" sz="1400"/>
              <a:t>   R² </a:t>
            </a:r>
            <a:r>
              <a:rPr lang="ko-KR" altLang="en-US" sz="1400"/>
              <a:t>값이 약 </a:t>
            </a:r>
            <a:r>
              <a:rPr lang="en-US" altLang="ko-KR" sz="1400"/>
              <a:t>0.87</a:t>
            </a:r>
            <a:r>
              <a:rPr lang="ko-KR" altLang="en-US" sz="1400"/>
              <a:t>로 매우 높게 나타났으며</a:t>
            </a:r>
            <a:r>
              <a:rPr lang="en-US" altLang="ko-KR" sz="1400"/>
              <a:t>, </a:t>
            </a:r>
            <a:r>
              <a:rPr lang="ko-KR" altLang="en-US" sz="1400"/>
              <a:t>이는 고용구조 지표만으로도 매출액의 상당 부분을 설명할 수 있음을 의미함</a:t>
            </a:r>
            <a:r>
              <a:rPr lang="en-US" altLang="ko-KR" sz="1400"/>
              <a:t>.</a:t>
            </a:r>
            <a:br>
              <a:rPr lang="en-US" altLang="ko-KR" sz="1400"/>
            </a:br>
            <a:r>
              <a:rPr lang="en-US" altLang="ko-KR" sz="1400"/>
              <a:t>   </a:t>
            </a:r>
            <a:r>
              <a:rPr lang="ko-KR" altLang="en-US" sz="1400"/>
              <a:t>매출액은 이익과 달리 규모 중심의 지표이므로</a:t>
            </a:r>
            <a:r>
              <a:rPr lang="en-US" altLang="ko-KR" sz="1400"/>
              <a:t>,</a:t>
            </a:r>
            <a:r>
              <a:rPr lang="ko-KR" altLang="en-US" sz="1400"/>
              <a:t>직원 규모</a:t>
            </a:r>
            <a:r>
              <a:rPr lang="en-US" altLang="ko-KR" sz="1400"/>
              <a:t>·</a:t>
            </a:r>
            <a:r>
              <a:rPr lang="ko-KR" altLang="en-US" sz="1400"/>
              <a:t>평균급여와 같은 기업 규모 관련 변수들이 </a:t>
            </a:r>
            <a:br>
              <a:rPr lang="en-US" altLang="ko-KR" sz="1400"/>
            </a:br>
            <a:r>
              <a:rPr lang="en-US" altLang="ko-KR" sz="1400"/>
              <a:t>   </a:t>
            </a:r>
            <a:r>
              <a:rPr lang="ko-KR" altLang="en-US" sz="1400"/>
              <a:t>매출액과 구조적으로 연결되어 있는 영향이 반영된 것으로 보임</a:t>
            </a:r>
            <a:r>
              <a:rPr lang="en-US" altLang="ko-KR" sz="1400"/>
              <a:t>.</a:t>
            </a:r>
            <a:endParaRPr lang="en-US" altLang="ko-KR" sz="50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b="1"/>
              <a:t>5. </a:t>
            </a:r>
            <a:r>
              <a:rPr lang="ko-KR" altLang="en-US" sz="1400" b="1"/>
              <a:t>데이터 및 변수 설명</a:t>
            </a:r>
            <a:br>
              <a:rPr lang="en-US" altLang="ko-KR" sz="1400" b="1"/>
            </a:br>
            <a:r>
              <a:rPr lang="en-US" altLang="ko-KR" sz="1400" b="1"/>
              <a:t>   </a:t>
            </a:r>
            <a:r>
              <a:rPr lang="ko-KR" altLang="en-US" sz="1400"/>
              <a:t>변수 중요도 분석 결과</a:t>
            </a:r>
            <a:r>
              <a:rPr lang="en-US" altLang="ko-KR" sz="1400"/>
              <a:t>, </a:t>
            </a:r>
            <a:r>
              <a:rPr lang="ko-KR" altLang="en-US" sz="1400"/>
              <a:t>매출액 증감율에 영향을 미치는 변수</a:t>
            </a:r>
            <a:r>
              <a:rPr lang="en-US" altLang="ko-KR" sz="1400"/>
              <a:t> </a:t>
            </a:r>
            <a:r>
              <a:rPr lang="ko-KR" altLang="en-US" sz="1400"/>
              <a:t>순위는 다음과 같음</a:t>
            </a:r>
            <a:r>
              <a:rPr lang="en-US" altLang="ko-KR" sz="1400"/>
              <a:t>.</a:t>
            </a:r>
            <a:br>
              <a:rPr lang="en-US" altLang="ko-KR" sz="1400"/>
            </a:br>
            <a:r>
              <a:rPr lang="en-US" altLang="ko-KR" sz="1400" b="1"/>
              <a:t>   [</a:t>
            </a:r>
            <a:r>
              <a:rPr lang="ko-KR" altLang="en-US" sz="1300" b="1"/>
              <a:t>남성정규직수 </a:t>
            </a:r>
            <a:r>
              <a:rPr lang="en-US" altLang="ko-KR" sz="1300" b="1"/>
              <a:t>&gt; </a:t>
            </a:r>
            <a:r>
              <a:rPr lang="ko-KR" altLang="en-US" sz="1300" b="1"/>
              <a:t>정규직수 </a:t>
            </a:r>
            <a:r>
              <a:rPr lang="en-US" altLang="ko-KR" sz="1300" b="1"/>
              <a:t>&gt; </a:t>
            </a:r>
            <a:r>
              <a:rPr lang="ko-KR" altLang="en-US" sz="1300" b="1"/>
              <a:t>남성직원수 </a:t>
            </a:r>
            <a:r>
              <a:rPr lang="en-US" altLang="ko-KR" sz="1300" b="1"/>
              <a:t>&gt; </a:t>
            </a:r>
            <a:r>
              <a:rPr lang="ko-KR" altLang="en-US" sz="1300" b="1"/>
              <a:t>평균급여 </a:t>
            </a:r>
            <a:r>
              <a:rPr lang="en-US" altLang="ko-KR" sz="1300" b="1"/>
              <a:t>&gt; </a:t>
            </a:r>
            <a:r>
              <a:rPr lang="ko-KR" altLang="en-US" sz="1300" b="1"/>
              <a:t>여성계약직수 </a:t>
            </a:r>
            <a:r>
              <a:rPr lang="en-US" altLang="ko-KR" sz="1300" b="1"/>
              <a:t>&gt; </a:t>
            </a:r>
            <a:r>
              <a:rPr lang="ko-KR" altLang="en-US" sz="1300" b="1"/>
              <a:t>여성정규직수 </a:t>
            </a:r>
            <a:r>
              <a:rPr lang="en-US" altLang="ko-KR" sz="1300" b="1"/>
              <a:t>&gt; </a:t>
            </a:r>
            <a:r>
              <a:rPr lang="ko-KR" altLang="en-US" sz="1300" b="1"/>
              <a:t>남성계약직수 </a:t>
            </a:r>
            <a:r>
              <a:rPr lang="en-US" altLang="ko-KR" sz="1300" b="1"/>
              <a:t>&gt; </a:t>
            </a:r>
            <a:r>
              <a:rPr lang="ko-KR" altLang="en-US" sz="1300" b="1"/>
              <a:t>여성직원수 </a:t>
            </a:r>
            <a:r>
              <a:rPr lang="en-US" altLang="ko-KR" sz="1300" b="1"/>
              <a:t>&gt; </a:t>
            </a:r>
            <a:r>
              <a:rPr lang="ko-KR" altLang="en-US" sz="1300" b="1"/>
              <a:t>계약직수</a:t>
            </a:r>
            <a:r>
              <a:rPr lang="en-US" altLang="ko-KR" sz="1300" b="1"/>
              <a:t>]</a:t>
            </a:r>
            <a:br>
              <a:rPr lang="en-US" altLang="ko-KR" sz="1400" b="1"/>
            </a:br>
            <a:r>
              <a:rPr lang="en-US" altLang="ko-KR" sz="1400" b="1"/>
              <a:t>   </a:t>
            </a:r>
            <a:r>
              <a:rPr lang="ko-KR" altLang="en-US" sz="1300"/>
              <a:t>정규직 관련 변수</a:t>
            </a:r>
            <a:r>
              <a:rPr lang="en-US" altLang="ko-KR" sz="1300"/>
              <a:t>, </a:t>
            </a:r>
            <a:r>
              <a:rPr lang="ko-KR" altLang="en-US" sz="1300"/>
              <a:t>특히 남성 정규직 규모가 가장 중요한 요인으로 나타났음을 의미함</a:t>
            </a:r>
            <a:r>
              <a:rPr lang="en-US" altLang="ko-KR" sz="1300"/>
              <a:t>. </a:t>
            </a:r>
            <a:br>
              <a:rPr lang="en-US" altLang="ko-KR" sz="1300"/>
            </a:br>
            <a:r>
              <a:rPr lang="en-US" altLang="ko-KR" sz="1300"/>
              <a:t>   </a:t>
            </a:r>
            <a:r>
              <a:rPr lang="ko-KR" altLang="en-US" sz="1300"/>
              <a:t>이는 기업 규모가 확대되며 정규직 인력이 증가하는 구조적 특성과 정규직 인력 규모가 매출 규모와 직접적으로 연결된다는 점을 보여줌</a:t>
            </a:r>
            <a:r>
              <a:rPr lang="en-US" altLang="ko-KR" sz="1300"/>
              <a:t>. </a:t>
            </a:r>
            <a:br>
              <a:rPr lang="en-US" altLang="ko-KR" sz="1300"/>
            </a:br>
            <a:r>
              <a:rPr lang="en-US" altLang="ko-KR" sz="1300"/>
              <a:t>   </a:t>
            </a:r>
            <a:r>
              <a:rPr lang="ko-KR" altLang="en-US" sz="1300"/>
              <a:t>반면 계약직 규모는 상대적으로 영향력이 낮게 나타났으며</a:t>
            </a:r>
            <a:r>
              <a:rPr lang="en-US" altLang="ko-KR" sz="1300"/>
              <a:t>, </a:t>
            </a:r>
            <a:r>
              <a:rPr lang="ko-KR" altLang="en-US" sz="1300"/>
              <a:t>이는 계약직 변동보다는 정규직 기반의 조직 구조가 매출과 더 밀접한 관계를    </a:t>
            </a:r>
            <a:br>
              <a:rPr lang="en-US" altLang="ko-KR" sz="1300"/>
            </a:br>
            <a:r>
              <a:rPr lang="en-US" altLang="ko-KR" sz="1300"/>
              <a:t>   </a:t>
            </a:r>
            <a:r>
              <a:rPr lang="ko-KR" altLang="en-US" sz="1300"/>
              <a:t>가진다는 것을 나타냄</a:t>
            </a:r>
            <a:r>
              <a:rPr lang="en-US" altLang="ko-KR" sz="13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37336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DF135-7079-4DC6-099A-52B4E48B9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CCD590-565A-407E-DF2A-D80935BBD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3-4 </a:t>
            </a:r>
            <a:r>
              <a:rPr lang="ko-KR" altLang="en-US" sz="2800" b="1"/>
              <a:t>고용구조와 매출액의 관계 분석 및 회귀 모델링</a:t>
            </a:r>
            <a:endParaRPr lang="ko-KR" altLang="en-US" sz="28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D1C60F-CDF8-ECC5-D03E-0F8AD957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ko-KR" sz="1400" b="1"/>
              <a:t>6. </a:t>
            </a:r>
            <a:r>
              <a:rPr lang="ko-KR" altLang="en-US" sz="1400" b="1"/>
              <a:t>실제값 </a:t>
            </a:r>
            <a:r>
              <a:rPr lang="en-US" altLang="ko-KR" sz="1400" b="1"/>
              <a:t>vs </a:t>
            </a:r>
            <a:r>
              <a:rPr lang="ko-KR" altLang="en-US" sz="1400" b="1"/>
              <a:t>예측값 시각화 해석 </a:t>
            </a:r>
            <a:r>
              <a:rPr lang="en-US" altLang="ko-KR" sz="1400" b="1"/>
              <a:t>(</a:t>
            </a:r>
            <a:r>
              <a:rPr lang="ko-KR" altLang="en-US" sz="1400" b="1"/>
              <a:t>로그스케일 산점도</a:t>
            </a:r>
            <a:r>
              <a:rPr lang="en-US" altLang="ko-KR" sz="1400" b="1"/>
              <a:t>)</a:t>
            </a:r>
            <a:br>
              <a:rPr lang="en-US" altLang="ko-KR" sz="1400" b="1"/>
            </a:br>
            <a:r>
              <a:rPr lang="en-US" altLang="ko-KR" sz="1400" b="1"/>
              <a:t>   </a:t>
            </a:r>
            <a:r>
              <a:rPr lang="ko-KR" altLang="en-US" sz="1400"/>
              <a:t>실제값과 예측값을 비교한 산점도에서는 대부분의 점이 대각선 근처에 잘 분포하고 있으며</a:t>
            </a:r>
            <a:r>
              <a:rPr lang="en-US" altLang="ko-KR" sz="1400"/>
              <a:t>, </a:t>
            </a:r>
            <a:br>
              <a:rPr lang="en-US" altLang="ko-KR" sz="1400"/>
            </a:br>
            <a:r>
              <a:rPr lang="en-US" altLang="ko-KR" sz="1400"/>
              <a:t>   </a:t>
            </a:r>
            <a:r>
              <a:rPr lang="ko-KR" altLang="en-US" sz="1400"/>
              <a:t>이는 모델이 매출액의 로그 패턴을 비교적 안정적으로 예측하고 있음을 의미함</a:t>
            </a:r>
            <a:r>
              <a:rPr lang="en-US" altLang="ko-KR" sz="1400"/>
              <a:t>.</a:t>
            </a:r>
            <a:br>
              <a:rPr lang="en-US" altLang="ko-KR" sz="1400"/>
            </a:br>
            <a:r>
              <a:rPr lang="en-US" altLang="ko-KR" sz="1400"/>
              <a:t>   </a:t>
            </a:r>
            <a:r>
              <a:rPr lang="ko-KR" altLang="en-US" sz="1400"/>
              <a:t>일부 고매출 기업의 구간에서 약간의 편차가 존재하지만</a:t>
            </a:r>
            <a:r>
              <a:rPr lang="en-US" altLang="ko-KR" sz="1400"/>
              <a:t>, </a:t>
            </a:r>
            <a:r>
              <a:rPr lang="ko-KR" altLang="en-US" sz="1400"/>
              <a:t>전반적으로 예측 정확도가 높게 나타남</a:t>
            </a:r>
            <a:r>
              <a:rPr lang="en-US" altLang="ko-KR" sz="1400"/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sz="500"/>
              <a:t> </a:t>
            </a:r>
            <a:br>
              <a:rPr lang="en-US" altLang="ko-KR" sz="1400"/>
            </a:br>
            <a:r>
              <a:rPr lang="en-US" altLang="ko-KR" sz="1400" b="1"/>
              <a:t>7. </a:t>
            </a:r>
            <a:r>
              <a:rPr lang="ko-KR" altLang="en-US" sz="1400" b="1"/>
              <a:t>결론</a:t>
            </a:r>
            <a:br>
              <a:rPr lang="en-US" altLang="ko-KR" sz="1400" b="1"/>
            </a:br>
            <a:r>
              <a:rPr lang="en-US" altLang="ko-KR" sz="1400"/>
              <a:t>   </a:t>
            </a:r>
            <a:r>
              <a:rPr lang="ko-KR" altLang="en-US" sz="1400"/>
              <a:t>분석 결과</a:t>
            </a:r>
            <a:r>
              <a:rPr lang="en-US" altLang="ko-KR" sz="1400"/>
              <a:t>, XGBoost </a:t>
            </a:r>
            <a:r>
              <a:rPr lang="ko-KR" altLang="en-US" sz="1400"/>
              <a:t>모델은 고용구조 지표만으로도 매출액을 매우 높은 수준으로 설명하는 것으로 나타났음</a:t>
            </a:r>
            <a:r>
              <a:rPr lang="en-US" altLang="ko-KR" sz="1400"/>
              <a:t>.</a:t>
            </a:r>
            <a:br>
              <a:rPr lang="en-US" altLang="ko-KR" sz="1400"/>
            </a:br>
            <a:r>
              <a:rPr lang="en-US" altLang="ko-KR" sz="1400"/>
              <a:t>   </a:t>
            </a:r>
            <a:r>
              <a:rPr lang="ko-KR" altLang="en-US" sz="1400"/>
              <a:t>특히 정규직 관련 변수들은 매출액과 강한 연관성을 보이며</a:t>
            </a:r>
            <a:r>
              <a:rPr lang="en-US" altLang="ko-KR" sz="1400"/>
              <a:t>, </a:t>
            </a:r>
            <a:r>
              <a:rPr lang="ko-KR" altLang="en-US" sz="1400"/>
              <a:t>상대적으로 계약직은 매출액과 연관성이 거의 없는 것으로 나타남</a:t>
            </a:r>
            <a:r>
              <a:rPr lang="en-US" altLang="ko-KR" sz="1400"/>
              <a:t>.</a:t>
            </a:r>
            <a:br>
              <a:rPr lang="en-US" altLang="ko-KR" sz="1400"/>
            </a:br>
            <a:r>
              <a:rPr lang="en-US" altLang="ko-KR" sz="1400"/>
              <a:t>   </a:t>
            </a:r>
            <a:r>
              <a:rPr lang="ko-KR" altLang="en-US" sz="1400"/>
              <a:t>이는 기업의 인력 구성과 규모가 매출 규모와 직접적으로 연결되어 있음을 시사함</a:t>
            </a:r>
            <a:r>
              <a:rPr lang="en-US" altLang="ko-KR" sz="140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586941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11661-B7D4-2D56-860E-29601250C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B850A1-645F-9548-7038-653E15D9B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3-4 </a:t>
            </a:r>
            <a:r>
              <a:rPr lang="ko-KR" altLang="en-US" sz="2800" b="1"/>
              <a:t>고용구조와 매출액의 관계 분석 및 회귀 모델링</a:t>
            </a:r>
            <a:endParaRPr lang="ko-KR" altLang="en-US" sz="280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A75F07-2AFC-379F-21CB-7102DE5B4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316" y="1413753"/>
            <a:ext cx="3600000" cy="52466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992B15-0EEA-DB52-5E40-4B55B2998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882" y="2075506"/>
            <a:ext cx="3600000" cy="39231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A0D943-4BE4-9A7C-DF7B-9B7FF8519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448" y="2179703"/>
            <a:ext cx="3600000" cy="37147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694567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E2287-6ED8-5254-C501-D6698C072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8C9E91-4FAE-6E32-C444-BD99ACCDB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3-4 </a:t>
            </a:r>
            <a:r>
              <a:rPr lang="ko-KR" altLang="en-US" sz="2800" b="1"/>
              <a:t>고용구조와 매출액의 관계 분석 및 회귀 모델링</a:t>
            </a:r>
            <a:endParaRPr lang="ko-KR" altLang="en-US" sz="280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4E3686D5-6C93-535B-89A5-FBF47C282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008" y="1379402"/>
            <a:ext cx="7669565" cy="540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30843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6F763-E02D-F0D4-137D-856EA4AB1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05CAB-67ED-C5A7-26A0-2E861FEFA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3-4 </a:t>
            </a:r>
            <a:r>
              <a:rPr lang="ko-KR" altLang="en-US" sz="2800" b="1"/>
              <a:t>고용구조와 매출액의 관계 분석 및 회귀 모델링</a:t>
            </a:r>
            <a:endParaRPr lang="ko-KR" altLang="en-US" sz="280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27963254-80EE-CD24-9236-A2BD97AC4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3857" y="1385786"/>
            <a:ext cx="5284286" cy="540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35728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809D0-D7D2-81A5-F766-141C3F197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6F06C14-C450-CD4A-1883-50386CFAFB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84DA3F70-B4B3-0BD4-7D58-F01AD7771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3200" b="1">
                <a:solidFill>
                  <a:schemeClr val="bg1"/>
                </a:solidFill>
              </a:rPr>
              <a:t>4. </a:t>
            </a:r>
            <a:r>
              <a:rPr lang="ko-KR" altLang="en-US" sz="3200" b="1">
                <a:solidFill>
                  <a:schemeClr val="bg1"/>
                </a:solidFill>
              </a:rPr>
              <a:t>프로젝트 후기</a:t>
            </a:r>
          </a:p>
        </p:txBody>
      </p:sp>
    </p:spTree>
    <p:extLst>
      <p:ext uri="{BB962C8B-B14F-4D97-AF65-F5344CB8AC3E}">
        <p14:creationId xmlns:p14="http://schemas.microsoft.com/office/powerpoint/2010/main" val="2073094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ED67D-5C75-5992-F9D2-BD2970F9D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2F66A3-2B2D-D7A5-CB60-31A2779CB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4. </a:t>
            </a:r>
            <a:r>
              <a:rPr lang="ko-KR" altLang="en-US" sz="2800" b="1"/>
              <a:t>프로젝트 후기</a:t>
            </a:r>
            <a:endParaRPr lang="ko-KR" altLang="en-US" sz="28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890952-F26C-3A94-B139-34FC67337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ko-KR" altLang="en-US" sz="1300"/>
              <a:t>이번 프로젝트를 통해 실제 기업 데이터를 활용해 고용구조와 재무성과의 연관성을 분석하는 경험을 얻을 수 있었으며 데이터 수집부터 전처리</a:t>
            </a:r>
            <a:r>
              <a:rPr lang="en-US" altLang="ko-KR" sz="1300"/>
              <a:t>, </a:t>
            </a:r>
            <a:r>
              <a:rPr lang="ko-KR" altLang="en-US" sz="1300"/>
              <a:t>시각화</a:t>
            </a:r>
            <a:r>
              <a:rPr lang="en-US" altLang="ko-KR" sz="1300"/>
              <a:t>, </a:t>
            </a:r>
            <a:r>
              <a:rPr lang="ko-KR" altLang="en-US" sz="1300"/>
              <a:t>회귀 분석까지 전 과정을 직접 수행하면서 다음과 같은 배움을 얻었다</a:t>
            </a:r>
            <a:r>
              <a:rPr lang="en-US" altLang="ko-KR" sz="1300"/>
              <a:t>.</a:t>
            </a:r>
          </a:p>
          <a:p>
            <a:pPr marL="342900" indent="-342900">
              <a:lnSpc>
                <a:spcPct val="170000"/>
              </a:lnSpc>
              <a:buAutoNum type="arabicPeriod"/>
            </a:pPr>
            <a:r>
              <a:rPr lang="ko-KR" altLang="en-US" sz="1300" b="1"/>
              <a:t>실제 산업 데이터의 복잡성 경험</a:t>
            </a:r>
            <a:br>
              <a:rPr lang="en-US" altLang="ko-KR" sz="1300"/>
            </a:br>
            <a:r>
              <a:rPr lang="ko-KR" altLang="en-US" sz="1300"/>
              <a:t>재무제표의 기준이나 산정 방식이 연도별 제도 변화에 따라 달라져 동일한 지표를 일관성 있게 다루기 어려웠고</a:t>
            </a:r>
            <a:r>
              <a:rPr lang="en-US" altLang="ko-KR" sz="1300"/>
              <a:t>, </a:t>
            </a:r>
            <a:br>
              <a:rPr lang="en-US" altLang="ko-KR" sz="1300"/>
            </a:br>
            <a:r>
              <a:rPr lang="ko-KR" altLang="en-US" sz="1300"/>
              <a:t>그 결과 목표했던 규모의 데이터를 온전히 확보하기 힘들었다</a:t>
            </a:r>
            <a:r>
              <a:rPr lang="en-US" altLang="ko-KR" sz="1300"/>
              <a:t>. </a:t>
            </a:r>
            <a:r>
              <a:rPr lang="ko-KR" altLang="en-US" sz="1300"/>
              <a:t>이 과정을 통해 좋은 분석은 결국 탄탄한 데이터 구조 설계에서 출발한다는 사실을 깨달았다</a:t>
            </a:r>
            <a:r>
              <a:rPr lang="en-US" altLang="ko-KR" sz="1300"/>
              <a:t>. </a:t>
            </a:r>
            <a:r>
              <a:rPr lang="ko-KR" altLang="en-US" sz="1300"/>
              <a:t>앞으로 관련 개발 또는 데이터 엔지니어링 업무를 맡게 된다면</a:t>
            </a:r>
            <a:r>
              <a:rPr lang="en-US" altLang="ko-KR" sz="1300"/>
              <a:t>, </a:t>
            </a:r>
            <a:r>
              <a:rPr lang="ko-KR" altLang="en-US" sz="1300"/>
              <a:t>변화에 강하고 장기적으로 유지될 수 있는 데이터 스키마 설계가 얼마나 중요한지 알고 신중하게 설계해야겠다는 생각을 하게 되었다</a:t>
            </a:r>
            <a:r>
              <a:rPr lang="en-US" altLang="ko-KR" sz="1300"/>
              <a:t>.</a:t>
            </a:r>
          </a:p>
          <a:p>
            <a:pPr marL="342900" indent="-342900">
              <a:lnSpc>
                <a:spcPct val="170000"/>
              </a:lnSpc>
              <a:buAutoNum type="arabicPeriod"/>
            </a:pPr>
            <a:r>
              <a:rPr lang="ko-KR" altLang="en-US" sz="1300" b="1"/>
              <a:t>전처리의 중요성</a:t>
            </a:r>
            <a:br>
              <a:rPr lang="en-US" altLang="ko-KR" sz="1300"/>
            </a:br>
            <a:r>
              <a:rPr lang="ko-KR" altLang="en-US" sz="1300"/>
              <a:t>결측치 처리뿐 아니라</a:t>
            </a:r>
            <a:r>
              <a:rPr lang="en-US" altLang="ko-KR" sz="1300"/>
              <a:t>, CSV </a:t>
            </a:r>
            <a:r>
              <a:rPr lang="ko-KR" altLang="en-US" sz="1300"/>
              <a:t>파일 변환 과정에서 쉼표나 공백 때문에 파싱 에러가 발생하는 등 예상치 못한 문제가 반복되었고</a:t>
            </a:r>
            <a:r>
              <a:rPr lang="en-US" altLang="ko-KR" sz="1300"/>
              <a:t>, </a:t>
            </a:r>
            <a:r>
              <a:rPr lang="ko-KR" altLang="en-US" sz="1300"/>
              <a:t>그때마다 정규표현식</a:t>
            </a:r>
            <a:r>
              <a:rPr lang="en-US" altLang="ko-KR" sz="1300"/>
              <a:t>, Pandas </a:t>
            </a:r>
            <a:r>
              <a:rPr lang="ko-KR" altLang="en-US" sz="1300"/>
              <a:t>옵션</a:t>
            </a:r>
            <a:r>
              <a:rPr lang="en-US" altLang="ko-KR" sz="1300"/>
              <a:t>, </a:t>
            </a:r>
            <a:r>
              <a:rPr lang="ko-KR" altLang="en-US" sz="1300"/>
              <a:t>인코딩 설정 등을 점검하며 해결해야 했다</a:t>
            </a:r>
            <a:r>
              <a:rPr lang="en-US" altLang="ko-KR" sz="1300"/>
              <a:t>. </a:t>
            </a:r>
            <a:r>
              <a:rPr lang="ko-KR" altLang="en-US" sz="1300"/>
              <a:t>단순히 데이터를 불러와서 사용하는 것이 아니라</a:t>
            </a:r>
            <a:r>
              <a:rPr lang="en-US" altLang="ko-KR" sz="1300"/>
              <a:t>, </a:t>
            </a:r>
            <a:r>
              <a:rPr lang="ko-KR" altLang="en-US" sz="1300"/>
              <a:t>데이터가 컴퓨터에서 어떻게 저장되고</a:t>
            </a:r>
            <a:r>
              <a:rPr lang="en-US" altLang="ko-KR" sz="1300"/>
              <a:t>, </a:t>
            </a:r>
            <a:r>
              <a:rPr lang="ko-KR" altLang="en-US" sz="1300"/>
              <a:t>어떤 방식으로 파싱되고</a:t>
            </a:r>
            <a:r>
              <a:rPr lang="en-US" altLang="ko-KR" sz="1300"/>
              <a:t>, </a:t>
            </a:r>
            <a:r>
              <a:rPr lang="ko-KR" altLang="en-US" sz="1300"/>
              <a:t>어떤 오류가 발생하는지까지 고려해야 한다는 점을 몸소 느꼈다</a:t>
            </a:r>
            <a:r>
              <a:rPr lang="en-US" altLang="ko-KR" sz="13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22619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A3FEB-0007-0DDF-9AAE-0744C3DF2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3E94CA-8A56-20E3-2D71-65AAE32E3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4. </a:t>
            </a:r>
            <a:r>
              <a:rPr lang="ko-KR" altLang="en-US" sz="2800" b="1"/>
              <a:t>프로젝트 후기</a:t>
            </a:r>
            <a:endParaRPr lang="ko-KR" altLang="en-US" sz="28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0BF7D7-AC91-028B-7216-2252EE3BC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4" y="1562911"/>
            <a:ext cx="10515600" cy="4614052"/>
          </a:xfrm>
        </p:spPr>
        <p:txBody>
          <a:bodyPr>
            <a:noAutofit/>
          </a:bodyPr>
          <a:lstStyle/>
          <a:p>
            <a:pPr marL="342900" indent="-342900">
              <a:lnSpc>
                <a:spcPct val="170000"/>
              </a:lnSpc>
              <a:buAutoNum type="arabicPeriod"/>
            </a:pPr>
            <a:r>
              <a:rPr lang="en-US" altLang="ko-KR" sz="100" b="1">
                <a:solidFill>
                  <a:schemeClr val="bg1"/>
                </a:solidFill>
              </a:rPr>
              <a:t> </a:t>
            </a:r>
            <a:endParaRPr lang="en-US" altLang="ko-KR" sz="100">
              <a:solidFill>
                <a:schemeClr val="bg1"/>
              </a:solidFill>
            </a:endParaRPr>
          </a:p>
          <a:p>
            <a:pPr marL="342900" indent="-342900">
              <a:lnSpc>
                <a:spcPct val="170000"/>
              </a:lnSpc>
              <a:buAutoNum type="arabicPeriod"/>
            </a:pPr>
            <a:r>
              <a:rPr lang="en-US" altLang="ko-KR" sz="100" b="1">
                <a:solidFill>
                  <a:schemeClr val="bg1"/>
                </a:solidFill>
              </a:rPr>
              <a:t> </a:t>
            </a:r>
            <a:endParaRPr lang="en-US" altLang="ko-KR" sz="100">
              <a:solidFill>
                <a:schemeClr val="bg1"/>
              </a:solidFill>
            </a:endParaRPr>
          </a:p>
          <a:p>
            <a:pPr marL="342900" indent="-342900">
              <a:lnSpc>
                <a:spcPct val="170000"/>
              </a:lnSpc>
              <a:buAutoNum type="arabicPeriod"/>
            </a:pPr>
            <a:r>
              <a:rPr lang="ko-KR" altLang="en-US" sz="1300" b="1"/>
              <a:t>모델링은 단순한 알고리즘 선택이 아님</a:t>
            </a:r>
            <a:br>
              <a:rPr lang="en-US" altLang="ko-KR" sz="1300" b="1"/>
            </a:br>
            <a:r>
              <a:rPr lang="ko-KR" altLang="en-US" sz="1300"/>
              <a:t>여러 차례의 모델 학습과 시각화 과정에서 모델링이 단순히 알고리즘 선택으로 끝나는 것이 아니라</a:t>
            </a:r>
            <a:r>
              <a:rPr lang="en-US" altLang="ko-KR" sz="1300"/>
              <a:t>, </a:t>
            </a:r>
            <a:r>
              <a:rPr lang="ko-KR" altLang="en-US" sz="1300"/>
              <a:t>데이터의 특성과 분포</a:t>
            </a:r>
            <a:r>
              <a:rPr lang="en-US" altLang="ko-KR" sz="1300"/>
              <a:t>, </a:t>
            </a:r>
            <a:r>
              <a:rPr lang="ko-KR" altLang="en-US" sz="1300"/>
              <a:t>스케일 차이를 이해하는 과정이라는 것도 배웠다</a:t>
            </a:r>
            <a:r>
              <a:rPr lang="en-US" altLang="ko-KR" sz="1300"/>
              <a:t>. </a:t>
            </a:r>
            <a:r>
              <a:rPr lang="ko-KR" altLang="en-US" sz="1300"/>
              <a:t>스케일을 맞추지 않은 상태에서 회귀 모델을 적용하면 극단적인 값이 모델을 왜곡하는 문제를 경험했고</a:t>
            </a:r>
            <a:r>
              <a:rPr lang="en-US" altLang="ko-KR" sz="1300"/>
              <a:t>, </a:t>
            </a:r>
            <a:r>
              <a:rPr lang="ko-KR" altLang="en-US" sz="1300"/>
              <a:t>이를 해결하기 위해 로그 스케일 적용</a:t>
            </a:r>
            <a:r>
              <a:rPr lang="en-US" altLang="ko-KR" sz="1300"/>
              <a:t>, </a:t>
            </a:r>
            <a:r>
              <a:rPr lang="ko-KR" altLang="en-US" sz="1300"/>
              <a:t>이상치 제거</a:t>
            </a:r>
            <a:r>
              <a:rPr lang="en-US" altLang="ko-KR" sz="1300"/>
              <a:t>, </a:t>
            </a:r>
            <a:r>
              <a:rPr lang="ko-KR" altLang="en-US" sz="1300"/>
              <a:t>데이터 표준화 등을 반복하면서 분석의 완성도가 달라지는 것을 확인했다</a:t>
            </a:r>
            <a:r>
              <a:rPr lang="en-US" altLang="ko-KR" sz="1300"/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sz="1300"/>
              <a:t>전반적으로 이번 프로젝트는 단순한 과제 수행을 넘어 데이터 엔지니어링</a:t>
            </a:r>
            <a:r>
              <a:rPr lang="en-US" altLang="ko-KR" sz="1300"/>
              <a:t>–</a:t>
            </a:r>
            <a:r>
              <a:rPr lang="ko-KR" altLang="en-US" sz="1300"/>
              <a:t>데이터 분석</a:t>
            </a:r>
            <a:r>
              <a:rPr lang="en-US" altLang="ko-KR" sz="1300"/>
              <a:t>–</a:t>
            </a:r>
            <a:r>
              <a:rPr lang="ko-KR" altLang="en-US" sz="1300"/>
              <a:t>머신러닝 모델링까지 이어지는 전체 파이프라인을 직접 경험해 볼 수 있는 과정이었다</a:t>
            </a:r>
            <a:r>
              <a:rPr lang="en-US" altLang="ko-KR" sz="1300"/>
              <a:t>. </a:t>
            </a:r>
            <a:r>
              <a:rPr lang="ko-KR" altLang="en-US" sz="1300"/>
              <a:t>졸업을 앞두고 실제 업무에서 마주하게 될 문제 해결 방식과 기술적 사고를 연습할 수 있었던 점에서 매우 값진 시간이었다</a:t>
            </a:r>
            <a:r>
              <a:rPr lang="en-US" altLang="ko-KR" sz="1300"/>
              <a:t>.</a:t>
            </a:r>
            <a:r>
              <a:rPr lang="ko-KR" altLang="en-US" sz="1300"/>
              <a:t>다만</a:t>
            </a:r>
            <a:r>
              <a:rPr lang="en-US" altLang="ko-KR" sz="1300"/>
              <a:t>, </a:t>
            </a:r>
            <a:r>
              <a:rPr lang="ko-KR" altLang="en-US" sz="1300"/>
              <a:t>프로젝트 후반에서야 이 정도 규모의 데이터만으로는 충분히 유의미한 예측 모델을 만들기 어렵다는 사실을 깨닫게 되어 아쉬움도 남았다</a:t>
            </a:r>
            <a:r>
              <a:rPr lang="en-US" altLang="ko-KR" sz="1300"/>
              <a:t>. </a:t>
            </a:r>
            <a:r>
              <a:rPr lang="ko-KR" altLang="en-US" sz="1300"/>
              <a:t>더 이른 단계에서 데이터의 한계와 방향성을 점검했더라면 분석의 깊이를 조금 더 확보할 수 있었을 것이라 생각한다</a:t>
            </a:r>
            <a:r>
              <a:rPr lang="en-US" altLang="ko-KR" sz="1300"/>
              <a:t>.</a:t>
            </a:r>
            <a:r>
              <a:rPr lang="ko-KR" altLang="en-US" sz="1300"/>
              <a:t>그럼에도 불구하고</a:t>
            </a:r>
            <a:r>
              <a:rPr lang="en-US" altLang="ko-KR" sz="1300"/>
              <a:t>, </a:t>
            </a:r>
            <a:r>
              <a:rPr lang="ko-KR" altLang="en-US" sz="1300"/>
              <a:t>평소 주식과 기업 분석에 관심이 많았던 만큼 실제 기업의 고용 구조와 재무 지표를 직접 다루고 시각화하고 모델링해보는 과정은 매우 흥미로웠다</a:t>
            </a:r>
            <a:r>
              <a:rPr lang="en-US" altLang="ko-KR" sz="1300"/>
              <a:t>. </a:t>
            </a:r>
            <a:r>
              <a:rPr lang="ko-KR" altLang="en-US" sz="1300"/>
              <a:t>단순한 관심사를 넘어</a:t>
            </a:r>
            <a:r>
              <a:rPr lang="en-US" altLang="ko-KR" sz="1300"/>
              <a:t>, </a:t>
            </a:r>
            <a:r>
              <a:rPr lang="ko-KR" altLang="en-US" sz="1300"/>
              <a:t>데이터를 기반으로 기업 구조를 읽어내는 경험을 해볼 수 있었던 의미 있는 프로젝트였다</a:t>
            </a:r>
            <a:r>
              <a:rPr lang="en-US" altLang="ko-KR" sz="1300"/>
              <a:t>.</a:t>
            </a:r>
            <a:endParaRPr lang="en-US" altLang="ko-KR" sz="1300" b="1"/>
          </a:p>
        </p:txBody>
      </p:sp>
    </p:spTree>
    <p:extLst>
      <p:ext uri="{BB962C8B-B14F-4D97-AF65-F5344CB8AC3E}">
        <p14:creationId xmlns:p14="http://schemas.microsoft.com/office/powerpoint/2010/main" val="2707217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355</TotalTime>
  <Words>2284</Words>
  <Application>Microsoft Office PowerPoint</Application>
  <PresentationFormat>와이드스크린</PresentationFormat>
  <Paragraphs>133</Paragraphs>
  <Slides>61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61</vt:i4>
      </vt:variant>
    </vt:vector>
  </HeadingPairs>
  <TitlesOfParts>
    <vt:vector size="64" baseType="lpstr">
      <vt:lpstr>맑은 고딕</vt:lpstr>
      <vt:lpstr>Arial</vt:lpstr>
      <vt:lpstr>Office 테마</vt:lpstr>
      <vt:lpstr>고용구조와 재무성과 데이터 분석</vt:lpstr>
      <vt:lpstr>목차</vt:lpstr>
      <vt:lpstr>1-1 프로젝트 주제</vt:lpstr>
      <vt:lpstr>1-1 프로젝트 주제</vt:lpstr>
      <vt:lpstr>1-2 프로젝트 목표</vt:lpstr>
      <vt:lpstr>1-2 프로젝트 목표</vt:lpstr>
      <vt:lpstr>1-3 사용할 데이터 및 프로젝트 범위</vt:lpstr>
      <vt:lpstr>1-3 사용할 데이터 및 프로젝트 범위</vt:lpstr>
      <vt:lpstr>2-1 데이터 수집 및 전처리 실행 순서</vt:lpstr>
      <vt:lpstr>2-1 데이터 수집 및 전처리 실행 순서</vt:lpstr>
      <vt:lpstr>2-2 기업 코드 및 리스트 수집</vt:lpstr>
      <vt:lpstr>2-2 DART 기업 코드 XML 다운로드</vt:lpstr>
      <vt:lpstr>2-2 KRX 리스트 필터링</vt:lpstr>
      <vt:lpstr>2-2 KRX-DART 기업코드 매칭</vt:lpstr>
      <vt:lpstr>2-3 고용 현황 데이터 수집</vt:lpstr>
      <vt:lpstr>2-3 직원 현황 Raw 데이터 수집</vt:lpstr>
      <vt:lpstr>2-3 직원 현황 Raw 데이터 수집</vt:lpstr>
      <vt:lpstr>2-3 직원 데이터 사업부문 통합</vt:lpstr>
      <vt:lpstr>2-3 데이터가 온전한 기업 필터링</vt:lpstr>
      <vt:lpstr>2-3 직원 데이터 최종 파생 변수 및 증감율 계산</vt:lpstr>
      <vt:lpstr>2-3 직원 데이터 최종 파생 변수 및 증감율 계산</vt:lpstr>
      <vt:lpstr>2-4 재무 성과 데이터 수집 및 전처리</vt:lpstr>
      <vt:lpstr>2-4 재무 데이터 Raw 수집</vt:lpstr>
      <vt:lpstr>2-4 재무 데이터 Raw 수집</vt:lpstr>
      <vt:lpstr>2-4 사업보고서 하반기 실적 보정</vt:lpstr>
      <vt:lpstr>2-4 재무 데이터 증감율 계산</vt:lpstr>
      <vt:lpstr>2-5. 최종 데이터 통합 및 정제</vt:lpstr>
      <vt:lpstr>2-5 고용-재무 데이터 통합</vt:lpstr>
      <vt:lpstr>2-5 고용-재무 데이터 통합</vt:lpstr>
      <vt:lpstr>2-5 최종 데이터 정제 및 저장</vt:lpstr>
      <vt:lpstr>2-5 고용-재무 데이터 통합</vt:lpstr>
      <vt:lpstr>2-6 데이터 수집 결과</vt:lpstr>
      <vt:lpstr>2-6 데이터 수집 결과</vt:lpstr>
      <vt:lpstr>3-1 고용구조와 재무성과의 상관관계 히트맵</vt:lpstr>
      <vt:lpstr>3-1 고용구조와 재무성과의 상관관계 히트맵</vt:lpstr>
      <vt:lpstr>3-1 고용구조와 재무성과의 상관관계 히트맵</vt:lpstr>
      <vt:lpstr>3-1 고용구조와 재무성과의 상관관계 히트맵</vt:lpstr>
      <vt:lpstr>3-2 고용구조증감율과 매출증감율의 관계 분석 및 회귀 모델링</vt:lpstr>
      <vt:lpstr>3-2 고용구조증감율과 매출증감율의 관계 분석 및 회귀 모델링</vt:lpstr>
      <vt:lpstr>3-2 고용구조증감율과 매출증감율의 관계 분석 및 회귀 모델링</vt:lpstr>
      <vt:lpstr>3-2 고용구조증감율과 매출증감율의 관계 분석 및 회귀 모델링</vt:lpstr>
      <vt:lpstr>3-2 고용구조증감율과 매출증감율의 관계 분석 및 회귀 모델링</vt:lpstr>
      <vt:lpstr>3-2 고용구조증감율과 매출증감율의 관계 분석 및 회귀 모델링</vt:lpstr>
      <vt:lpstr>3-2 고용구조증감율과 매출증감율의 관계 분석 및 회귀 모델링</vt:lpstr>
      <vt:lpstr>3-3 고용구조와 영업이익의 관계 분석 및 회귀 모델링</vt:lpstr>
      <vt:lpstr>3-3 고용구조와 영업이익의 관계 분석 및 회귀 모델링</vt:lpstr>
      <vt:lpstr>3-3 고용구조와 영업이익의 관계 분석 및 회귀 모델링</vt:lpstr>
      <vt:lpstr>3-3 고용구조와 영업이익의 관계 분석 및 회귀 모델링</vt:lpstr>
      <vt:lpstr>3-3 고용구조와 영업이익의 관계 분석 및 회귀 모델링</vt:lpstr>
      <vt:lpstr>3-3 고용구조와 영업이익의 관계 분석 및 회귀 모델링</vt:lpstr>
      <vt:lpstr>3-3 고용구조와 영업이익의 관계 분석 및 회귀 모델링</vt:lpstr>
      <vt:lpstr>3-4 고용구조와 매출액의 관계 분석 및 회귀 모델링</vt:lpstr>
      <vt:lpstr>3-4 고용구조와 매출액의 관계 분석 및 회귀 모델링</vt:lpstr>
      <vt:lpstr>3-4 고용구조와 매출액의 관계 분석 및 회귀 모델링</vt:lpstr>
      <vt:lpstr>3-4 고용구조와 매출액의 관계 분석 및 회귀 모델링</vt:lpstr>
      <vt:lpstr>3-4 고용구조와 매출액의 관계 분석 및 회귀 모델링</vt:lpstr>
      <vt:lpstr>3-4 고용구조와 매출액의 관계 분석 및 회귀 모델링</vt:lpstr>
      <vt:lpstr>3-4 고용구조와 매출액의 관계 분석 및 회귀 모델링</vt:lpstr>
      <vt:lpstr>4. 프로젝트 후기</vt:lpstr>
      <vt:lpstr>4. 프로젝트 후기</vt:lpstr>
      <vt:lpstr>4. 프로젝트 후기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동관 남</dc:creator>
  <cp:lastModifiedBy>동관 남</cp:lastModifiedBy>
  <cp:revision>10</cp:revision>
  <dcterms:created xsi:type="dcterms:W3CDTF">2025-09-17T10:28:58Z</dcterms:created>
  <dcterms:modified xsi:type="dcterms:W3CDTF">2025-12-07T13:12:21Z</dcterms:modified>
</cp:coreProperties>
</file>