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1" r:id="rId3"/>
    <p:sldId id="257" r:id="rId4"/>
    <p:sldId id="258" r:id="rId5"/>
    <p:sldId id="268" r:id="rId6"/>
    <p:sldId id="269" r:id="rId7"/>
    <p:sldId id="270" r:id="rId8"/>
    <p:sldId id="272" r:id="rId9"/>
    <p:sldId id="273" r:id="rId10"/>
    <p:sldId id="274" r:id="rId11"/>
    <p:sldId id="275" r:id="rId12"/>
    <p:sldId id="276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F1F1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30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86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F21861-8526-585D-03DE-CADDF9EF8C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999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228DAAE-B1F7-F9AF-7586-83D591F484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62" indent="0" algn="ctr">
              <a:buNone/>
              <a:defRPr sz="2000"/>
            </a:lvl2pPr>
            <a:lvl3pPr marL="914323" indent="0" algn="ctr">
              <a:buNone/>
              <a:defRPr sz="1800"/>
            </a:lvl3pPr>
            <a:lvl4pPr marL="1371486" indent="0" algn="ctr">
              <a:buNone/>
              <a:defRPr sz="1600"/>
            </a:lvl4pPr>
            <a:lvl5pPr marL="1828647" indent="0" algn="ctr">
              <a:buNone/>
              <a:defRPr sz="1600"/>
            </a:lvl5pPr>
            <a:lvl6pPr marL="2285808" indent="0" algn="ctr">
              <a:buNone/>
              <a:defRPr sz="1600"/>
            </a:lvl6pPr>
            <a:lvl7pPr marL="2742970" indent="0" algn="ctr">
              <a:buNone/>
              <a:defRPr sz="1600"/>
            </a:lvl7pPr>
            <a:lvl8pPr marL="3200132" indent="0" algn="ctr">
              <a:buNone/>
              <a:defRPr sz="1600"/>
            </a:lvl8pPr>
            <a:lvl9pPr marL="3657294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5D1D043-8668-726F-1F87-957304D02A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8FA53-58D3-44C0-B5DC-E4234B860599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C5AF6EB-6F8B-D1CA-9027-C918F52F22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C5C754-3211-7E63-F116-DBAF652FCB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818A35-E03A-4EC8-9026-86C11B8BC8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95825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9D2537-FDF1-453A-00A6-AB7A8A51C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4731FF-D1B4-E28A-0035-C5E78E3C73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5FD300F-1196-230B-B950-9D5DA831D8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8FA53-58D3-44C0-B5DC-E4234B860599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5CA92A9-DE9F-0527-4A10-46D769D2E7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522B456-623B-839A-1A2B-3B72CE206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818A35-E03A-4EC8-9026-86C11B8BC8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99238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B17709-83EC-F444-70B4-F5774484F6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3" y="1709738"/>
            <a:ext cx="10515600" cy="2852737"/>
          </a:xfrm>
        </p:spPr>
        <p:txBody>
          <a:bodyPr anchor="b"/>
          <a:lstStyle>
            <a:lvl1pPr>
              <a:defRPr sz="5999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BE38CF-41EC-C7EA-ABF3-BAB9641450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3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162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323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48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647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5808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297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132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29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9FBA195-F31B-1C02-2FA7-19CC64AED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8FA53-58D3-44C0-B5DC-E4234B860599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0F77D00-99E4-8C2D-3BD4-822AB61F1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63A5C6-1F95-49C3-1123-A6E98D4B3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818A35-E03A-4EC8-9026-86C11B8BC8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85036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26D364-E357-645C-8F27-FEA5EEFD5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B3CAE04-3257-A83C-4EF6-075E240A7B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3B78C77-6405-7AD9-FFB1-72A951CF7D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A4CA59E-3BD4-FCD0-FD18-BC8081D02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8FA53-58D3-44C0-B5DC-E4234B860599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38521A4-E28C-472A-1FA3-B6FB6DB2BA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D1BAEB1-693C-51AC-579C-9831F0FDB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818A35-E03A-4EC8-9026-86C11B8BC8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50281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5EA5D9-C150-A74A-A119-3F4827C65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7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5217F4C-5D5F-27A7-DB06-BA120BC23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91" y="1681164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62" indent="0">
              <a:buNone/>
              <a:defRPr sz="2000" b="1"/>
            </a:lvl2pPr>
            <a:lvl3pPr marL="914323" indent="0">
              <a:buNone/>
              <a:defRPr sz="1800" b="1"/>
            </a:lvl3pPr>
            <a:lvl4pPr marL="1371486" indent="0">
              <a:buNone/>
              <a:defRPr sz="1600" b="1"/>
            </a:lvl4pPr>
            <a:lvl5pPr marL="1828647" indent="0">
              <a:buNone/>
              <a:defRPr sz="1600" b="1"/>
            </a:lvl5pPr>
            <a:lvl6pPr marL="2285808" indent="0">
              <a:buNone/>
              <a:defRPr sz="1600" b="1"/>
            </a:lvl6pPr>
            <a:lvl7pPr marL="2742970" indent="0">
              <a:buNone/>
              <a:defRPr sz="1600" b="1"/>
            </a:lvl7pPr>
            <a:lvl8pPr marL="3200132" indent="0">
              <a:buNone/>
              <a:defRPr sz="1600" b="1"/>
            </a:lvl8pPr>
            <a:lvl9pPr marL="3657294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96F0132-00A7-3F10-B8F2-D202D819F6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91" y="2505076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7A6B2C7-375B-C1F1-39D7-3F125480DC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3" y="1681164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62" indent="0">
              <a:buNone/>
              <a:defRPr sz="2000" b="1"/>
            </a:lvl2pPr>
            <a:lvl3pPr marL="914323" indent="0">
              <a:buNone/>
              <a:defRPr sz="1800" b="1"/>
            </a:lvl3pPr>
            <a:lvl4pPr marL="1371486" indent="0">
              <a:buNone/>
              <a:defRPr sz="1600" b="1"/>
            </a:lvl4pPr>
            <a:lvl5pPr marL="1828647" indent="0">
              <a:buNone/>
              <a:defRPr sz="1600" b="1"/>
            </a:lvl5pPr>
            <a:lvl6pPr marL="2285808" indent="0">
              <a:buNone/>
              <a:defRPr sz="1600" b="1"/>
            </a:lvl6pPr>
            <a:lvl7pPr marL="2742970" indent="0">
              <a:buNone/>
              <a:defRPr sz="1600" b="1"/>
            </a:lvl7pPr>
            <a:lvl8pPr marL="3200132" indent="0">
              <a:buNone/>
              <a:defRPr sz="1600" b="1"/>
            </a:lvl8pPr>
            <a:lvl9pPr marL="3657294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F66212C-E963-D002-2DAF-336D27E03A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3" y="2505076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855FB34-6837-642A-0D2A-743066772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8FA53-58D3-44C0-B5DC-E4234B860599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8F40523-E5A5-7661-433E-A776ACABE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3F5FFB7-6DD4-D436-5C8E-BD48A6291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818A35-E03A-4EC8-9026-86C11B8BC8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794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65B694-0D8F-8FC9-209B-ADB44BED0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6A33A55-E061-72C8-9C5A-A259B9175E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8FA53-58D3-44C0-B5DC-E4234B860599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6C8C53A-E271-1F08-6D19-4F93683D8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FCAADAA-FC80-1B27-B4AE-B39BAAB8D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818A35-E03A-4EC8-9026-86C11B8BC8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28974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71B5540-F77D-7D20-40B7-1B3374F7A5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8FA53-58D3-44C0-B5DC-E4234B860599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F915BA5-42D2-1ED7-3D23-7FD5A1E21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48331D-951D-28E9-30DB-25D5539A7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818A35-E03A-4EC8-9026-86C11B8BC8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2541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07ED9D-49B1-FE7D-2234-0ED1CCFC73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1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2D344D2-E992-6944-C46A-D7316613C3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0" y="987427"/>
            <a:ext cx="6172201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D430E3A-D5F8-355D-C143-5D7F2BF054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1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62" indent="0">
              <a:buNone/>
              <a:defRPr sz="1400"/>
            </a:lvl2pPr>
            <a:lvl3pPr marL="914323" indent="0">
              <a:buNone/>
              <a:defRPr sz="1200"/>
            </a:lvl3pPr>
            <a:lvl4pPr marL="1371486" indent="0">
              <a:buNone/>
              <a:defRPr sz="1000"/>
            </a:lvl4pPr>
            <a:lvl5pPr marL="1828647" indent="0">
              <a:buNone/>
              <a:defRPr sz="1000"/>
            </a:lvl5pPr>
            <a:lvl6pPr marL="2285808" indent="0">
              <a:buNone/>
              <a:defRPr sz="1000"/>
            </a:lvl6pPr>
            <a:lvl7pPr marL="2742970" indent="0">
              <a:buNone/>
              <a:defRPr sz="1000"/>
            </a:lvl7pPr>
            <a:lvl8pPr marL="3200132" indent="0">
              <a:buNone/>
              <a:defRPr sz="1000"/>
            </a:lvl8pPr>
            <a:lvl9pPr marL="3657294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02DEFE8-8ECC-2332-56D4-E6A610A3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8FA53-58D3-44C0-B5DC-E4234B860599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95AF100-28F8-202C-704B-3C7D91B6E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8D82251-81F6-9417-E047-DF0F8DA2C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818A35-E03A-4EC8-9026-86C11B8BC8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6945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10CA54-86F3-C566-FFC7-A65128435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1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E924619-6371-7A70-D887-D3E843F6D3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90" y="987427"/>
            <a:ext cx="6172201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62" indent="0">
              <a:buNone/>
              <a:defRPr sz="2800"/>
            </a:lvl2pPr>
            <a:lvl3pPr marL="914323" indent="0">
              <a:buNone/>
              <a:defRPr sz="2400"/>
            </a:lvl3pPr>
            <a:lvl4pPr marL="1371486" indent="0">
              <a:buNone/>
              <a:defRPr sz="2000"/>
            </a:lvl4pPr>
            <a:lvl5pPr marL="1828647" indent="0">
              <a:buNone/>
              <a:defRPr sz="2000"/>
            </a:lvl5pPr>
            <a:lvl6pPr marL="2285808" indent="0">
              <a:buNone/>
              <a:defRPr sz="2000"/>
            </a:lvl6pPr>
            <a:lvl7pPr marL="2742970" indent="0">
              <a:buNone/>
              <a:defRPr sz="2000"/>
            </a:lvl7pPr>
            <a:lvl8pPr marL="3200132" indent="0">
              <a:buNone/>
              <a:defRPr sz="2000"/>
            </a:lvl8pPr>
            <a:lvl9pPr marL="3657294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236DFFD-389E-1B8C-7FB3-6973B3B4C3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1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62" indent="0">
              <a:buNone/>
              <a:defRPr sz="1400"/>
            </a:lvl2pPr>
            <a:lvl3pPr marL="914323" indent="0">
              <a:buNone/>
              <a:defRPr sz="1200"/>
            </a:lvl3pPr>
            <a:lvl4pPr marL="1371486" indent="0">
              <a:buNone/>
              <a:defRPr sz="1000"/>
            </a:lvl4pPr>
            <a:lvl5pPr marL="1828647" indent="0">
              <a:buNone/>
              <a:defRPr sz="1000"/>
            </a:lvl5pPr>
            <a:lvl6pPr marL="2285808" indent="0">
              <a:buNone/>
              <a:defRPr sz="1000"/>
            </a:lvl6pPr>
            <a:lvl7pPr marL="2742970" indent="0">
              <a:buNone/>
              <a:defRPr sz="1000"/>
            </a:lvl7pPr>
            <a:lvl8pPr marL="3200132" indent="0">
              <a:buNone/>
              <a:defRPr sz="1000"/>
            </a:lvl8pPr>
            <a:lvl9pPr marL="3657294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1533DBE-CA18-3BA4-7564-BE58D5EE1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8FA53-58D3-44C0-B5DC-E4234B860599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30BCE26-19D9-CC68-90F3-AF4219A994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48724A7-45CE-48B8-94ED-BE4883ACE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818A35-E03A-4EC8-9026-86C11B8BC8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0367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0A137B-BE06-798C-EBAA-332863192E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5763503-ED2E-2CCE-09B9-49F828E3E3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A3ADCF0-B803-0B3B-1727-0FBF0E649E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8FA53-58D3-44C0-B5DC-E4234B860599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D77E53E-82D6-0DEA-B391-C30014E23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229870C-C377-2B98-1AEB-ED2254608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818A35-E03A-4EC8-9026-86C11B8BC8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37917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AA7C77D-0FE3-8005-4897-F4CFE1C046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899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BCFC691-83BC-D698-23A6-3901040E8C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199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415A83-178A-A870-50FF-AAEA75633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8FA53-58D3-44C0-B5DC-E4234B860599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91FD495-F7D9-F34F-8046-C571CC6F2F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51AFF7-3DD2-899E-70AA-89D7E93DA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818A35-E03A-4EC8-9026-86C11B8BC8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5362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DA95133-7866-C996-E5F1-B6392DB65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4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5E611CD-A3EB-E17C-DE4F-C8C89DF5CB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4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127D74D-A800-4736-732D-B1D7D050C9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28FA53-58D3-44C0-B5DC-E4234B860599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E791784-901A-FC5B-C944-6CB18F4B88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4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C1B831E-B7EC-FEAA-3ED2-89C61856A7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818A35-E03A-4EC8-9026-86C11B8BC8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57607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23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2" indent="-228582" algn="l" defTabSz="914323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43" indent="-228582" algn="l" defTabSz="9143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04" indent="-228582" algn="l" defTabSz="9143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066" indent="-228582" algn="l" defTabSz="9143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28" indent="-228582" algn="l" defTabSz="9143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390" indent="-228582" algn="l" defTabSz="9143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552" indent="-228582" algn="l" defTabSz="9143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713" indent="-228582" algn="l" defTabSz="9143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874" indent="-228582" algn="l" defTabSz="9143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323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62" algn="l" defTabSz="914323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23" algn="l" defTabSz="914323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86" algn="l" defTabSz="914323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47" algn="l" defTabSz="914323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08" algn="l" defTabSz="914323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70" algn="l" defTabSz="914323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132" algn="l" defTabSz="914323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294" algn="l" defTabSz="914323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opendart.fss.or.kr/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D4CCF7-DCBB-504A-6B1F-169DE23B0D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60315" y="1128848"/>
            <a:ext cx="10071370" cy="2387600"/>
          </a:xfrm>
        </p:spPr>
        <p:txBody>
          <a:bodyPr anchor="ctr">
            <a:normAutofit/>
          </a:bodyPr>
          <a:lstStyle/>
          <a:p>
            <a:r>
              <a:rPr lang="ko-KR" altLang="en-US" sz="4800"/>
              <a:t>고용구조와 재무성과 데이터 분석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7AF5C51-B5F2-F35E-02A1-AA12855A41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b"/>
          <a:lstStyle/>
          <a:p>
            <a:r>
              <a:rPr lang="en-US" altLang="ko-KR"/>
              <a:t>202344083 </a:t>
            </a:r>
            <a:r>
              <a:rPr lang="ko-KR" altLang="en-US"/>
              <a:t>남동관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002FDA-2E33-2FC0-6923-17E7EAD867A8}"/>
              </a:ext>
            </a:extLst>
          </p:cNvPr>
          <p:cNvSpPr txBox="1"/>
          <p:nvPr/>
        </p:nvSpPr>
        <p:spPr>
          <a:xfrm>
            <a:off x="1459149" y="3094208"/>
            <a:ext cx="927370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/>
              <a:t>인하공업전문대학 컴퓨터정보과 </a:t>
            </a:r>
            <a:r>
              <a:rPr lang="en-US" altLang="ko-KR"/>
              <a:t>3</a:t>
            </a:r>
            <a:r>
              <a:rPr lang="ko-KR" altLang="en-US"/>
              <a:t>학년 </a:t>
            </a:r>
            <a:r>
              <a:rPr lang="en-US" altLang="ko-KR"/>
              <a:t>2</a:t>
            </a:r>
            <a:r>
              <a:rPr lang="ko-KR" altLang="en-US"/>
              <a:t>학기 빅데이터 프로젝트 최종 보고서</a:t>
            </a:r>
          </a:p>
        </p:txBody>
      </p:sp>
    </p:spTree>
    <p:extLst>
      <p:ext uri="{BB962C8B-B14F-4D97-AF65-F5344CB8AC3E}">
        <p14:creationId xmlns:p14="http://schemas.microsoft.com/office/powerpoint/2010/main" val="25819616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14FC7-6700-9E38-D553-F7F9E17B2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B6A1F2-46D2-536D-D20B-2ED6721D43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0D7E94D-410C-611F-5DEF-B7942841E4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/>
              <a:t>1. </a:t>
            </a:r>
            <a:r>
              <a:rPr lang="ko-KR" altLang="en-US" sz="2400"/>
              <a:t>프로젝트 목표</a:t>
            </a:r>
            <a:endParaRPr lang="en-US" altLang="ko-KR" sz="2400"/>
          </a:p>
          <a:p>
            <a:pPr>
              <a:lnSpc>
                <a:spcPct val="150000"/>
              </a:lnSpc>
            </a:pPr>
            <a:r>
              <a:rPr lang="en-US" altLang="ko-KR" sz="2400"/>
              <a:t>2. </a:t>
            </a:r>
            <a:r>
              <a:rPr lang="ko-KR" altLang="en-US" sz="2400"/>
              <a:t>사용할 데이터 및 프로젝트 범위</a:t>
            </a:r>
            <a:endParaRPr lang="en-US" altLang="ko-KR" sz="2400"/>
          </a:p>
          <a:p>
            <a:pPr>
              <a:lnSpc>
                <a:spcPct val="150000"/>
              </a:lnSpc>
            </a:pPr>
            <a:r>
              <a:rPr lang="en-US" altLang="ko-KR" sz="2400"/>
              <a:t>3. </a:t>
            </a:r>
            <a:r>
              <a:rPr lang="ko-KR" altLang="en-US" sz="2400"/>
              <a:t>데이터 수집 과정</a:t>
            </a:r>
            <a:endParaRPr lang="en-US" altLang="ko-KR" sz="2400"/>
          </a:p>
          <a:p>
            <a:pPr>
              <a:lnSpc>
                <a:spcPct val="150000"/>
              </a:lnSpc>
            </a:pPr>
            <a:r>
              <a:rPr lang="en-US" altLang="ko-KR" sz="2400"/>
              <a:t>4. </a:t>
            </a:r>
            <a:r>
              <a:rPr lang="ko-KR" altLang="en-US" sz="2400"/>
              <a:t>분석 결과</a:t>
            </a:r>
            <a:endParaRPr lang="en-US" altLang="ko-KR" sz="2400"/>
          </a:p>
        </p:txBody>
      </p:sp>
    </p:spTree>
    <p:extLst>
      <p:ext uri="{BB962C8B-B14F-4D97-AF65-F5344CB8AC3E}">
        <p14:creationId xmlns:p14="http://schemas.microsoft.com/office/powerpoint/2010/main" val="17270986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940F6-27F2-773F-CE37-D403A8402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1. </a:t>
            </a:r>
            <a:r>
              <a:rPr lang="ko-KR" altLang="en-US"/>
              <a:t>프로젝트 목표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2352ED7-F237-E3C1-A3CC-E912202C96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/>
              <a:t>고용구조와 재무성과의 상관관계 히트맵</a:t>
            </a:r>
            <a:endParaRPr lang="en-US" altLang="ko-KR" sz="2400"/>
          </a:p>
          <a:p>
            <a:pPr>
              <a:lnSpc>
                <a:spcPct val="150000"/>
              </a:lnSpc>
            </a:pPr>
            <a:r>
              <a:rPr lang="ko-KR" altLang="en-US" sz="2400"/>
              <a:t>고용구조 증감율과 매출액 증감율의 관계 분석 및 회귀 모델링</a:t>
            </a:r>
            <a:endParaRPr lang="en-US" altLang="ko-KR" sz="2400"/>
          </a:p>
          <a:p>
            <a:pPr>
              <a:lnSpc>
                <a:spcPct val="150000"/>
              </a:lnSpc>
            </a:pPr>
            <a:r>
              <a:rPr lang="ko-KR" altLang="en-US" sz="2400"/>
              <a:t>고용구조와 평균급여의 관계 분석 및 회귀 모델링</a:t>
            </a:r>
            <a:endParaRPr lang="en-US" altLang="ko-KR" sz="2400"/>
          </a:p>
        </p:txBody>
      </p:sp>
    </p:spTree>
    <p:extLst>
      <p:ext uri="{BB962C8B-B14F-4D97-AF65-F5344CB8AC3E}">
        <p14:creationId xmlns:p14="http://schemas.microsoft.com/office/powerpoint/2010/main" val="4416624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A2FEC-6045-5620-D0D5-44512E0E08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D23440-9043-7181-1D0B-AAF2F65C3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2. </a:t>
            </a:r>
            <a:r>
              <a:rPr lang="ko-KR" altLang="en-US"/>
              <a:t>사용할 데이터 및 프로젝트 범위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B88BBED-0C7D-8A4F-9251-2B9AB0196C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/>
              <a:t>DART Open API (</a:t>
            </a:r>
            <a:r>
              <a:rPr lang="en-US" altLang="ko-KR" sz="2400">
                <a:hlinkClick r:id="rId2"/>
              </a:rPr>
              <a:t>https://opendart.fss.or.kr/</a:t>
            </a:r>
            <a:r>
              <a:rPr lang="en-US" altLang="ko-KR" sz="2400"/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sz="2000"/>
              <a:t>1. dart_fss </a:t>
            </a:r>
            <a:r>
              <a:rPr lang="ko-KR" altLang="en-US" sz="2000"/>
              <a:t>라이브러리를 이용하여</a:t>
            </a:r>
            <a:r>
              <a:rPr lang="en-US" altLang="ko-KR" sz="2000"/>
              <a:t> </a:t>
            </a:r>
            <a:r>
              <a:rPr lang="ko-KR" altLang="en-US" sz="2000"/>
              <a:t>코스피 기업들의 직원현황 및 재무정보 수집</a:t>
            </a:r>
            <a:endParaRPr lang="en-US" altLang="ko-KR" sz="2000"/>
          </a:p>
          <a:p>
            <a:pPr>
              <a:lnSpc>
                <a:spcPct val="150000"/>
              </a:lnSpc>
            </a:pPr>
            <a:r>
              <a:rPr lang="en-US" altLang="ko-KR" sz="2000"/>
              <a:t>2. pandas </a:t>
            </a:r>
            <a:r>
              <a:rPr lang="ko-KR" altLang="en-US" sz="2000"/>
              <a:t>라이브러리를 이용하여 데이터 정제 및 </a:t>
            </a:r>
            <a:r>
              <a:rPr lang="en-US" altLang="ko-KR" sz="2000"/>
              <a:t>csv </a:t>
            </a:r>
            <a:r>
              <a:rPr lang="ko-KR" altLang="en-US" sz="2000"/>
              <a:t>파일로 저장</a:t>
            </a:r>
            <a:endParaRPr lang="en-US" altLang="ko-KR" sz="2000"/>
          </a:p>
          <a:p>
            <a:pPr>
              <a:lnSpc>
                <a:spcPct val="150000"/>
              </a:lnSpc>
            </a:pPr>
            <a:r>
              <a:rPr lang="en-US" altLang="ko-KR" sz="2000"/>
              <a:t>3. sklearn </a:t>
            </a:r>
            <a:r>
              <a:rPr lang="ko-KR" altLang="en-US" sz="2000"/>
              <a:t>라이브러리를 이용하여 머신러닝 기반 회귀 분석</a:t>
            </a:r>
            <a:endParaRPr lang="en-US" altLang="ko-KR" sz="2000"/>
          </a:p>
          <a:p>
            <a:pPr>
              <a:lnSpc>
                <a:spcPct val="150000"/>
              </a:lnSpc>
            </a:pPr>
            <a:r>
              <a:rPr lang="en-US" altLang="ko-KR" sz="2000"/>
              <a:t>4. matplotlib </a:t>
            </a:r>
            <a:r>
              <a:rPr lang="ko-KR" altLang="en-US" sz="2000"/>
              <a:t>라이브러리를 이용하여 데이터 시각화</a:t>
            </a:r>
            <a:endParaRPr lang="en-US" altLang="ko-KR" sz="2000"/>
          </a:p>
        </p:txBody>
      </p:sp>
    </p:spTree>
    <p:extLst>
      <p:ext uri="{BB962C8B-B14F-4D97-AF65-F5344CB8AC3E}">
        <p14:creationId xmlns:p14="http://schemas.microsoft.com/office/powerpoint/2010/main" val="20202051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2F4741-A276-282C-15F8-8E17EE93E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B73B01-8CC4-1739-34AB-15CC7F011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3. </a:t>
            </a:r>
            <a:r>
              <a:rPr lang="ko-KR" altLang="en-US"/>
              <a:t>데이터 수집 </a:t>
            </a:r>
            <a:r>
              <a:rPr lang="en-US" altLang="ko-KR"/>
              <a:t>– </a:t>
            </a:r>
            <a:r>
              <a:rPr lang="ko-KR" altLang="en-US"/>
              <a:t>고용구조 데이터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EF41F6-E6D7-C5C9-68F5-43749F851C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endParaRPr lang="en-US" altLang="ko-KR" sz="2000"/>
          </a:p>
        </p:txBody>
      </p:sp>
    </p:spTree>
    <p:extLst>
      <p:ext uri="{BB962C8B-B14F-4D97-AF65-F5344CB8AC3E}">
        <p14:creationId xmlns:p14="http://schemas.microsoft.com/office/powerpoint/2010/main" val="42554194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6A5140-09B1-B233-B9CA-CD7521AF0E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FFC5CC-3DE5-D47F-3C8F-29C686A50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3. </a:t>
            </a:r>
            <a:r>
              <a:rPr lang="ko-KR" altLang="en-US"/>
              <a:t>데이터 수집 </a:t>
            </a:r>
            <a:r>
              <a:rPr lang="en-US" altLang="ko-KR"/>
              <a:t>– </a:t>
            </a:r>
            <a:r>
              <a:rPr lang="ko-KR" altLang="en-US"/>
              <a:t>재무성과 데이터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734E629-4A18-6E82-15FE-26A6554B27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endParaRPr lang="en-US" altLang="ko-KR" sz="2000"/>
          </a:p>
        </p:txBody>
      </p:sp>
    </p:spTree>
    <p:extLst>
      <p:ext uri="{BB962C8B-B14F-4D97-AF65-F5344CB8AC3E}">
        <p14:creationId xmlns:p14="http://schemas.microsoft.com/office/powerpoint/2010/main" val="3461030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D0091-FABF-6461-3062-5EB4B380B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CB4C2E-6BF9-DF76-7B2A-79CDA4CDF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3. </a:t>
            </a:r>
            <a:r>
              <a:rPr lang="ko-KR" altLang="en-US"/>
              <a:t>데이터 수집 </a:t>
            </a:r>
            <a:r>
              <a:rPr lang="en-US" altLang="ko-KR"/>
              <a:t>- </a:t>
            </a:r>
            <a:r>
              <a:rPr lang="ko-KR" altLang="en-US"/>
              <a:t>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65B642-1E3B-6457-567F-522C2A7D01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/>
              <a:t>2016</a:t>
            </a:r>
            <a:r>
              <a:rPr lang="ko-KR" altLang="en-US" sz="2000"/>
              <a:t>년 이전의 재무 데이터는 양식과 산정방식이 지금과 다르기에 사용할 수 없었음</a:t>
            </a:r>
            <a:r>
              <a:rPr lang="en-US" altLang="ko-KR" sz="200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000"/>
              <a:t>일부 증권사</a:t>
            </a:r>
            <a:r>
              <a:rPr lang="en-US" altLang="ko-KR" sz="2000"/>
              <a:t>, </a:t>
            </a:r>
            <a:r>
              <a:rPr lang="ko-KR" altLang="en-US" sz="2000"/>
              <a:t>금융기업은 직원 급여를 제공하지 않아 사용할 수 없었음</a:t>
            </a:r>
            <a:r>
              <a:rPr lang="en-US" altLang="ko-KR" sz="200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000"/>
              <a:t>상장폐지되거나 합병된 기업의 경우 제외함</a:t>
            </a:r>
            <a:r>
              <a:rPr lang="en-US" altLang="ko-KR" sz="2000"/>
              <a:t>.</a:t>
            </a:r>
          </a:p>
          <a:p>
            <a:pPr>
              <a:lnSpc>
                <a:spcPct val="150000"/>
              </a:lnSpc>
            </a:pPr>
            <a:endParaRPr lang="en-US" altLang="ko-KR" sz="2000"/>
          </a:p>
          <a:p>
            <a:pPr>
              <a:lnSpc>
                <a:spcPct val="150000"/>
              </a:lnSpc>
            </a:pPr>
            <a:r>
              <a:rPr lang="ko-KR" altLang="en-US" sz="2000"/>
              <a:t>총 </a:t>
            </a:r>
            <a:r>
              <a:rPr lang="en-US" altLang="ko-KR" sz="2000"/>
              <a:t>594</a:t>
            </a:r>
            <a:r>
              <a:rPr lang="ko-KR" altLang="en-US" sz="2000"/>
              <a:t>개 코스피 상장 기업의 </a:t>
            </a:r>
            <a:r>
              <a:rPr lang="en-US" altLang="ko-KR" sz="2000"/>
              <a:t>2016~2024</a:t>
            </a:r>
            <a:r>
              <a:rPr lang="ko-KR" altLang="en-US" sz="2000"/>
              <a:t> 반기보고서</a:t>
            </a:r>
            <a:r>
              <a:rPr lang="en-US" altLang="ko-KR" sz="2000"/>
              <a:t>, </a:t>
            </a:r>
            <a:r>
              <a:rPr lang="ko-KR" altLang="en-US" sz="2000"/>
              <a:t>사업보고서 데이터를 수집함</a:t>
            </a:r>
            <a:r>
              <a:rPr lang="en-US" altLang="ko-KR" sz="2000"/>
              <a:t>.</a:t>
            </a:r>
          </a:p>
          <a:p>
            <a:pPr>
              <a:lnSpc>
                <a:spcPct val="150000"/>
              </a:lnSpc>
            </a:pPr>
            <a:endParaRPr lang="en-US" altLang="ko-KR" sz="2000"/>
          </a:p>
        </p:txBody>
      </p:sp>
    </p:spTree>
    <p:extLst>
      <p:ext uri="{BB962C8B-B14F-4D97-AF65-F5344CB8AC3E}">
        <p14:creationId xmlns:p14="http://schemas.microsoft.com/office/powerpoint/2010/main" val="25898642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02712F-0C57-56B9-D753-F8232EE96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A3494B-EFBA-91AB-64D8-BFFD9122E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2800"/>
              <a:t>4. </a:t>
            </a:r>
            <a:r>
              <a:rPr lang="ko-KR" altLang="en-US" sz="2800"/>
              <a:t>분석 결과 </a:t>
            </a:r>
            <a:r>
              <a:rPr lang="en-US" altLang="ko-KR" sz="2800"/>
              <a:t>- </a:t>
            </a:r>
            <a:r>
              <a:rPr lang="ko-KR" altLang="en-US" sz="2800"/>
              <a:t>고용구조와 매출액의 관계 분석 및 회귀 모델링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447D025-53FA-A0A2-CF5E-AA04DF794F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b="1"/>
              <a:t>1. </a:t>
            </a:r>
            <a:r>
              <a:rPr lang="ko-KR" altLang="en-US" sz="2000" b="1"/>
              <a:t>데이터 로드</a:t>
            </a:r>
            <a:endParaRPr lang="en-US" altLang="ko-KR" sz="2000" b="1"/>
          </a:p>
          <a:p>
            <a:pPr>
              <a:lnSpc>
                <a:spcPct val="150000"/>
              </a:lnSpc>
            </a:pPr>
            <a:r>
              <a:rPr lang="en-US" altLang="ko-KR" sz="2000" b="1"/>
              <a:t>2.</a:t>
            </a:r>
            <a:r>
              <a:rPr lang="ko-KR" altLang="en-US" sz="2000" b="1"/>
              <a:t> 보고서유형</a:t>
            </a:r>
            <a:r>
              <a:rPr lang="en-US" altLang="ko-KR" sz="2000" b="1"/>
              <a:t>(</a:t>
            </a:r>
            <a:r>
              <a:rPr lang="ko-KR" altLang="en-US" sz="2000" b="1"/>
              <a:t>반기</a:t>
            </a:r>
            <a:r>
              <a:rPr lang="en-US" altLang="ko-KR" sz="2000" b="1"/>
              <a:t>/</a:t>
            </a:r>
            <a:r>
              <a:rPr lang="ko-KR" altLang="en-US" sz="2000" b="1"/>
              <a:t>사업</a:t>
            </a:r>
            <a:r>
              <a:rPr lang="en-US" altLang="ko-KR" sz="2000" b="1"/>
              <a:t>)</a:t>
            </a:r>
            <a:r>
              <a:rPr lang="ko-KR" altLang="en-US" sz="2000" b="1"/>
              <a:t>의 모델 활용을 위한 수치 변환</a:t>
            </a:r>
          </a:p>
          <a:p>
            <a:pPr>
              <a:lnSpc>
                <a:spcPct val="150000"/>
              </a:lnSpc>
            </a:pPr>
            <a:r>
              <a:rPr lang="ko-KR" altLang="en-US" sz="1600"/>
              <a:t>반기보고서 </a:t>
            </a:r>
            <a:r>
              <a:rPr lang="en-US" altLang="ko-KR" sz="1600"/>
              <a:t>-&gt; 0 / </a:t>
            </a:r>
            <a:r>
              <a:rPr lang="ko-KR" altLang="en-US" sz="1600"/>
              <a:t>사업보고서 </a:t>
            </a:r>
            <a:r>
              <a:rPr lang="en-US" altLang="ko-KR" sz="1600"/>
              <a:t>-&gt; 1</a:t>
            </a:r>
          </a:p>
        </p:txBody>
      </p:sp>
    </p:spTree>
    <p:extLst>
      <p:ext uri="{BB962C8B-B14F-4D97-AF65-F5344CB8AC3E}">
        <p14:creationId xmlns:p14="http://schemas.microsoft.com/office/powerpoint/2010/main" val="15853514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4498B-0E43-55D7-766A-EEE9AEB40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585A1-5906-079E-E798-7261F1097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2800"/>
              <a:t>4. </a:t>
            </a:r>
            <a:r>
              <a:rPr lang="ko-KR" altLang="en-US" sz="2800"/>
              <a:t>분석 결과 </a:t>
            </a:r>
            <a:r>
              <a:rPr lang="en-US" altLang="ko-KR" sz="2800"/>
              <a:t>- </a:t>
            </a:r>
            <a:r>
              <a:rPr lang="ko-KR" altLang="en-US" sz="2800"/>
              <a:t>고용구조와 매출액의 관계 분석 및 회귀 모델링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02A7538-7ED7-5A71-3246-F261391B27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b="1"/>
              <a:t>3. </a:t>
            </a:r>
            <a:r>
              <a:rPr lang="ko-KR" altLang="en-US" sz="2000" b="1"/>
              <a:t>회귀 모델링</a:t>
            </a:r>
            <a:r>
              <a:rPr lang="en-US" altLang="ko-KR" sz="2000" b="1"/>
              <a:t>(Regression Modeling)</a:t>
            </a:r>
          </a:p>
          <a:p>
            <a:pPr>
              <a:lnSpc>
                <a:spcPct val="150000"/>
              </a:lnSpc>
            </a:pPr>
            <a:r>
              <a:rPr lang="ko-KR" altLang="en-US" sz="1600"/>
              <a:t>복잡한 다중 상관관계를 모델이 잘 학습할 수 있고 변수 중요도를 제공하는 </a:t>
            </a:r>
            <a:r>
              <a:rPr lang="en-US" altLang="ko-KR" sz="1600"/>
              <a:t>Random Forest</a:t>
            </a:r>
            <a:r>
              <a:rPr lang="ko-KR" altLang="en-US" sz="1600"/>
              <a:t>를 선택함</a:t>
            </a:r>
            <a:r>
              <a:rPr lang="en-US" altLang="ko-KR" sz="1600"/>
              <a:t>.</a:t>
            </a:r>
            <a:endParaRPr lang="en-US" altLang="ko-KR" sz="1600" b="1"/>
          </a:p>
          <a:p>
            <a:pPr>
              <a:lnSpc>
                <a:spcPct val="150000"/>
              </a:lnSpc>
            </a:pPr>
            <a:r>
              <a:rPr lang="en-US" altLang="ko-KR" sz="1600"/>
              <a:t>Feature</a:t>
            </a:r>
            <a:r>
              <a:rPr lang="ko-KR" altLang="en-US" sz="1600"/>
              <a:t> </a:t>
            </a:r>
            <a:r>
              <a:rPr lang="en-US" altLang="ko-KR" sz="1600"/>
              <a:t>: </a:t>
            </a:r>
            <a:r>
              <a:rPr lang="ko-KR" altLang="en-US" sz="1600"/>
              <a:t>평균급여증감율</a:t>
            </a:r>
            <a:r>
              <a:rPr lang="en-US" altLang="ko-KR" sz="1600"/>
              <a:t>, </a:t>
            </a:r>
            <a:r>
              <a:rPr lang="ko-KR" altLang="en-US" sz="1600"/>
              <a:t>남성직원수증감율</a:t>
            </a:r>
            <a:r>
              <a:rPr lang="en-US" altLang="ko-KR" sz="1600"/>
              <a:t>, </a:t>
            </a:r>
            <a:r>
              <a:rPr lang="ko-KR" altLang="en-US" sz="1600"/>
              <a:t>여성직원수증감율</a:t>
            </a:r>
            <a:r>
              <a:rPr lang="en-US" altLang="ko-KR" sz="1600"/>
              <a:t>, </a:t>
            </a:r>
            <a:r>
              <a:rPr lang="ko-KR" altLang="en-US" sz="1600"/>
              <a:t>정규직수증감율</a:t>
            </a:r>
            <a:r>
              <a:rPr lang="en-US" altLang="ko-KR" sz="1600"/>
              <a:t>, </a:t>
            </a:r>
            <a:r>
              <a:rPr lang="ko-KR" altLang="en-US" sz="1600"/>
              <a:t>계약직수증감율</a:t>
            </a:r>
            <a:endParaRPr lang="en-US" altLang="ko-KR" sz="1600"/>
          </a:p>
          <a:p>
            <a:pPr>
              <a:lnSpc>
                <a:spcPct val="150000"/>
              </a:lnSpc>
            </a:pPr>
            <a:r>
              <a:rPr lang="ko-KR" altLang="en-US" sz="1600"/>
              <a:t>숫자형 컬럼 중 결측치 제거</a:t>
            </a:r>
            <a:r>
              <a:rPr lang="en-US" altLang="ko-KR" sz="1600"/>
              <a:t>, Train/Test </a:t>
            </a:r>
            <a:r>
              <a:rPr lang="ko-KR" altLang="en-US" sz="1600"/>
              <a:t>데이터셋 </a:t>
            </a:r>
            <a:r>
              <a:rPr lang="en-US" altLang="ko-KR" sz="1600"/>
              <a:t>80:20 </a:t>
            </a:r>
            <a:r>
              <a:rPr lang="ko-KR" altLang="en-US" sz="1600"/>
              <a:t>분할 </a:t>
            </a:r>
            <a:r>
              <a:rPr lang="en-US" altLang="ko-KR" sz="1600"/>
              <a:t>(shuffle=True)</a:t>
            </a:r>
          </a:p>
          <a:p>
            <a:endParaRPr lang="en-US" altLang="ko-KR" sz="2000"/>
          </a:p>
        </p:txBody>
      </p:sp>
    </p:spTree>
    <p:extLst>
      <p:ext uri="{BB962C8B-B14F-4D97-AF65-F5344CB8AC3E}">
        <p14:creationId xmlns:p14="http://schemas.microsoft.com/office/powerpoint/2010/main" val="16582819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A92C2-0855-B07B-9875-12A3BC1B5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46B9ED-57A0-1C2C-4937-11E0B14BD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2800"/>
              <a:t>4. </a:t>
            </a:r>
            <a:r>
              <a:rPr lang="ko-KR" altLang="en-US" sz="2800"/>
              <a:t>분석 결과 </a:t>
            </a:r>
            <a:r>
              <a:rPr lang="en-US" altLang="ko-KR" sz="2800"/>
              <a:t>- </a:t>
            </a:r>
            <a:r>
              <a:rPr lang="ko-KR" altLang="en-US" sz="2800"/>
              <a:t>고용구조와 매출액의 관계 분석 및 회귀 모델링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7BD3AB7-0B4E-09A0-40E3-7563F09124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b="1"/>
              <a:t>4. </a:t>
            </a:r>
            <a:r>
              <a:rPr lang="ko-KR" altLang="en-US" sz="2000" b="1"/>
              <a:t>모델 성능 평가</a:t>
            </a:r>
            <a:endParaRPr lang="en-US" altLang="ko-KR" sz="2000" b="1"/>
          </a:p>
          <a:p>
            <a:pPr>
              <a:lnSpc>
                <a:spcPct val="150000"/>
              </a:lnSpc>
            </a:pPr>
            <a:r>
              <a:rPr lang="ko-KR" altLang="en-US" sz="1600"/>
              <a:t>평가 지표 </a:t>
            </a:r>
            <a:r>
              <a:rPr lang="en-US" altLang="ko-KR" sz="1600"/>
              <a:t>: MSE (Mean Squared Error), RMSE (Root Mean Squared Error), R² (</a:t>
            </a:r>
            <a:r>
              <a:rPr lang="ko-KR" altLang="en-US" sz="1600"/>
              <a:t>설명력</a:t>
            </a:r>
            <a:r>
              <a:rPr lang="en-US" altLang="ko-KR" sz="1600"/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1600"/>
              <a:t>일반적으로 </a:t>
            </a:r>
            <a:r>
              <a:rPr lang="en-US" altLang="ko-KR" sz="1600"/>
              <a:t>R² </a:t>
            </a:r>
            <a:r>
              <a:rPr lang="ko-KR" altLang="en-US" sz="1600"/>
              <a:t>값이 </a:t>
            </a:r>
            <a:r>
              <a:rPr lang="en-US" altLang="ko-KR" sz="1600"/>
              <a:t>0.5 </a:t>
            </a:r>
            <a:r>
              <a:rPr lang="ko-KR" altLang="en-US" sz="1600"/>
              <a:t>이상이면 의미 있는 예측 능력을 가진 모델로 평가 가능</a:t>
            </a:r>
            <a:r>
              <a:rPr lang="en-US" altLang="ko-KR" sz="1600"/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1600"/>
              <a:t>RMSE</a:t>
            </a:r>
            <a:r>
              <a:rPr lang="ko-KR" altLang="en-US" sz="1600"/>
              <a:t>는 매출액 단위에 따라 해석하며</a:t>
            </a:r>
            <a:r>
              <a:rPr lang="en-US" altLang="ko-KR" sz="1600"/>
              <a:t>, </a:t>
            </a:r>
            <a:r>
              <a:rPr lang="ko-KR" altLang="en-US" sz="1600"/>
              <a:t>상대 비교로 개선 확인 가능</a:t>
            </a:r>
            <a:r>
              <a:rPr lang="en-US" altLang="ko-KR" sz="1600"/>
              <a:t>.</a:t>
            </a:r>
            <a:endParaRPr lang="en-US" altLang="ko-KR" sz="2000"/>
          </a:p>
        </p:txBody>
      </p:sp>
    </p:spTree>
    <p:extLst>
      <p:ext uri="{BB962C8B-B14F-4D97-AF65-F5344CB8AC3E}">
        <p14:creationId xmlns:p14="http://schemas.microsoft.com/office/powerpoint/2010/main" val="25744495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2D6A62-C02D-7EB7-71EB-887A90C5EC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46F566-82E6-03F3-828E-351D62505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2800"/>
              <a:t>4. </a:t>
            </a:r>
            <a:r>
              <a:rPr lang="ko-KR" altLang="en-US" sz="2800"/>
              <a:t>분석 결과 </a:t>
            </a:r>
            <a:r>
              <a:rPr lang="en-US" altLang="ko-KR" sz="2800"/>
              <a:t>- </a:t>
            </a:r>
            <a:r>
              <a:rPr lang="ko-KR" altLang="en-US" sz="2800"/>
              <a:t>고용구조와 매출액의 관계 분석 및 회귀 모델링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A6F031F-36C0-3883-E41B-6DD08A38E5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b="1"/>
              <a:t>5. Feature Importance </a:t>
            </a:r>
            <a:r>
              <a:rPr lang="ko-KR" altLang="en-US" sz="2000" b="1"/>
              <a:t>분석</a:t>
            </a:r>
            <a:endParaRPr lang="en-US" altLang="ko-KR" sz="2000" b="1"/>
          </a:p>
          <a:p>
            <a:pPr>
              <a:lnSpc>
                <a:spcPct val="150000"/>
              </a:lnSpc>
            </a:pPr>
            <a:r>
              <a:rPr lang="ko-KR" altLang="en-US" sz="1600"/>
              <a:t>모델이 매출액을 예측할 때 중요하게 판단한 변수를 계산하여 시각화</a:t>
            </a:r>
            <a:r>
              <a:rPr lang="en-US" altLang="ko-KR" sz="160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977664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1452D-680D-67BD-120D-13776E645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5EAB2B-3111-B0EE-169D-270B504B3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2800"/>
              <a:t>4. </a:t>
            </a:r>
            <a:r>
              <a:rPr lang="ko-KR" altLang="en-US" sz="2800"/>
              <a:t>분석 결과 </a:t>
            </a:r>
            <a:r>
              <a:rPr lang="en-US" altLang="ko-KR" sz="2800"/>
              <a:t>- </a:t>
            </a:r>
            <a:r>
              <a:rPr lang="ko-KR" altLang="en-US" sz="2800"/>
              <a:t>고용구조와 매출액의 관계 분석 및 회귀 모델링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5F2093-641F-1640-3A51-2DC92A928E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60000"/>
              </a:lnSpc>
            </a:pPr>
            <a:r>
              <a:rPr lang="ko-KR" altLang="en-US" sz="1600"/>
              <a:t>고용구조가 기업의 매출액 증감율에 미치는 영향을 파악하기 위해 </a:t>
            </a:r>
            <a:r>
              <a:rPr lang="en-US" altLang="ko-KR" sz="1600"/>
              <a:t>Random Forest </a:t>
            </a:r>
            <a:r>
              <a:rPr lang="ko-KR" altLang="en-US" sz="1600"/>
              <a:t>회귀 모델을 구축하였다</a:t>
            </a:r>
            <a:r>
              <a:rPr lang="en-US" altLang="ko-KR" sz="1600"/>
              <a:t>.</a:t>
            </a:r>
          </a:p>
          <a:p>
            <a:pPr>
              <a:lnSpc>
                <a:spcPct val="160000"/>
              </a:lnSpc>
            </a:pPr>
            <a:r>
              <a:rPr lang="ko-KR" altLang="en-US" sz="1600"/>
              <a:t>그러나 모델 성능은 </a:t>
            </a:r>
            <a:r>
              <a:rPr lang="en-US" altLang="ko-KR" sz="1600" b="1"/>
              <a:t>MSE: 402,078, RMSE: </a:t>
            </a:r>
            <a:r>
              <a:rPr lang="ko-KR" altLang="en-US" sz="1600" b="1"/>
              <a:t>약 </a:t>
            </a:r>
            <a:r>
              <a:rPr lang="en-US" altLang="ko-KR" sz="1600" b="1"/>
              <a:t>634, R²: -0.0037</a:t>
            </a:r>
            <a:r>
              <a:rPr lang="ko-KR" altLang="en-US" sz="1600"/>
              <a:t>로 나타났으며</a:t>
            </a:r>
            <a:r>
              <a:rPr lang="en-US" altLang="ko-KR" sz="1600"/>
              <a:t>,</a:t>
            </a:r>
            <a:br>
              <a:rPr lang="en-US" altLang="ko-KR" sz="1600"/>
            </a:br>
            <a:r>
              <a:rPr lang="ko-KR" altLang="en-US" sz="1600"/>
              <a:t>이는 </a:t>
            </a:r>
            <a:r>
              <a:rPr lang="ko-KR" altLang="en-US" sz="1600" b="1"/>
              <a:t>해당 변수들만으로는 매출액증감율을 설명하거나 예측하기 어렵다는 것을 의미한다</a:t>
            </a:r>
            <a:r>
              <a:rPr lang="en-US" altLang="ko-KR" sz="1600" b="1"/>
              <a:t>.</a:t>
            </a:r>
            <a:endParaRPr lang="ko-KR" altLang="en-US" sz="1600"/>
          </a:p>
          <a:p>
            <a:pPr>
              <a:lnSpc>
                <a:spcPct val="160000"/>
              </a:lnSpc>
            </a:pPr>
            <a:r>
              <a:rPr lang="en-US" altLang="ko-KR" sz="1600"/>
              <a:t>Feature Importance </a:t>
            </a:r>
            <a:r>
              <a:rPr lang="ko-KR" altLang="en-US" sz="1600"/>
              <a:t>분석 결과 모델의 변수 중요도는 다음과 같은 순서로 나타났다</a:t>
            </a:r>
            <a:r>
              <a:rPr lang="en-US" altLang="ko-KR" sz="1600"/>
              <a:t>.</a:t>
            </a:r>
            <a:br>
              <a:rPr lang="en-US" altLang="ko-KR" sz="1600"/>
            </a:br>
            <a:r>
              <a:rPr lang="ko-KR" altLang="en-US" sz="1600" b="1"/>
              <a:t>정규직수증감율 </a:t>
            </a:r>
            <a:r>
              <a:rPr lang="en-US" altLang="ko-KR" sz="1600" b="1"/>
              <a:t>&gt; </a:t>
            </a:r>
            <a:r>
              <a:rPr lang="ko-KR" altLang="en-US" sz="1600" b="1"/>
              <a:t>평균급여증감율 </a:t>
            </a:r>
            <a:r>
              <a:rPr lang="en-US" altLang="ko-KR" sz="1600" b="1"/>
              <a:t>&gt; </a:t>
            </a:r>
            <a:r>
              <a:rPr lang="ko-KR" altLang="en-US" sz="1600" b="1"/>
              <a:t>남성직원수증감율 </a:t>
            </a:r>
            <a:r>
              <a:rPr lang="en-US" altLang="ko-KR" sz="1600" b="1"/>
              <a:t>&gt; </a:t>
            </a:r>
            <a:r>
              <a:rPr lang="ko-KR" altLang="en-US" sz="1600" b="1"/>
              <a:t>여성직원수증감율 </a:t>
            </a:r>
            <a:r>
              <a:rPr lang="en-US" altLang="ko-KR" sz="1600" b="1"/>
              <a:t>&gt; </a:t>
            </a:r>
            <a:r>
              <a:rPr lang="ko-KR" altLang="en-US" sz="1600" b="1"/>
              <a:t>계약직수증감율</a:t>
            </a:r>
          </a:p>
          <a:p>
            <a:pPr>
              <a:lnSpc>
                <a:spcPct val="160000"/>
              </a:lnSpc>
            </a:pPr>
            <a:r>
              <a:rPr lang="ko-KR" altLang="en-US" sz="1600"/>
              <a:t>이는 고용구조 변화 중에서도 </a:t>
            </a:r>
            <a:r>
              <a:rPr lang="ko-KR" altLang="en-US" sz="1600" b="1"/>
              <a:t>정규직 인력 규모 변화가 기업 성장성과 비교적 더 관련이 있을 가능성</a:t>
            </a:r>
            <a:r>
              <a:rPr lang="ko-KR" altLang="en-US" sz="1600"/>
              <a:t>을 시사하며</a:t>
            </a:r>
            <a:r>
              <a:rPr lang="en-US" altLang="ko-KR" sz="1600"/>
              <a:t>, </a:t>
            </a:r>
            <a:r>
              <a:rPr lang="ko-KR" altLang="en-US" sz="1600"/>
              <a:t>평균 급여</a:t>
            </a:r>
            <a:r>
              <a:rPr lang="en-US" altLang="ko-KR" sz="1600"/>
              <a:t> </a:t>
            </a:r>
            <a:r>
              <a:rPr lang="ko-KR" altLang="en-US" sz="1600"/>
              <a:t>역시 일정 수준의 영향력을 갖는 것으로 나타났다</a:t>
            </a:r>
            <a:r>
              <a:rPr lang="en-US" altLang="ko-KR" sz="1600"/>
              <a:t>.</a:t>
            </a:r>
          </a:p>
          <a:p>
            <a:pPr>
              <a:lnSpc>
                <a:spcPct val="160000"/>
              </a:lnSpc>
            </a:pPr>
            <a:r>
              <a:rPr lang="ko-KR" altLang="en-US" sz="1600"/>
              <a:t>다만</a:t>
            </a:r>
            <a:r>
              <a:rPr lang="en-US" altLang="ko-KR" sz="1600"/>
              <a:t>, </a:t>
            </a:r>
            <a:r>
              <a:rPr lang="ko-KR" altLang="en-US" sz="1600"/>
              <a:t>전체 모델 설명력이 낮기 때문에 이 결과는 인과관계라기보다 </a:t>
            </a:r>
            <a:r>
              <a:rPr lang="ko-KR" altLang="en-US" sz="1600" b="1"/>
              <a:t>탐색적 분석에서 발견된 경향</a:t>
            </a:r>
            <a:r>
              <a:rPr lang="ko-KR" altLang="en-US" sz="1600"/>
              <a:t>으로 해석하는 것이 적절하다</a:t>
            </a:r>
            <a:r>
              <a:rPr lang="en-US" altLang="ko-KR" sz="160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507812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140</TotalTime>
  <Words>501</Words>
  <Application>Microsoft Office PowerPoint</Application>
  <PresentationFormat>와이드스크린</PresentationFormat>
  <Paragraphs>49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5" baseType="lpstr">
      <vt:lpstr>맑은 고딕</vt:lpstr>
      <vt:lpstr>Arial</vt:lpstr>
      <vt:lpstr>Office 테마</vt:lpstr>
      <vt:lpstr>고용구조와 재무성과 데이터 분석</vt:lpstr>
      <vt:lpstr>목차</vt:lpstr>
      <vt:lpstr>1. 프로젝트 목표</vt:lpstr>
      <vt:lpstr>2. 사용할 데이터 및 프로젝트 범위</vt:lpstr>
      <vt:lpstr>3. 데이터 수집 – 고용구조 데이터</vt:lpstr>
      <vt:lpstr>3. 데이터 수집 – 재무성과 데이터</vt:lpstr>
      <vt:lpstr>3. 데이터 수집 - 결과</vt:lpstr>
      <vt:lpstr>4. 분석 결과 - 고용구조와 매출액의 관계 분석 및 회귀 모델링</vt:lpstr>
      <vt:lpstr>4. 분석 결과 - 고용구조와 매출액의 관계 분석 및 회귀 모델링</vt:lpstr>
      <vt:lpstr>4. 분석 결과 - 고용구조와 매출액의 관계 분석 및 회귀 모델링</vt:lpstr>
      <vt:lpstr>4. 분석 결과 - 고용구조와 매출액의 관계 분석 및 회귀 모델링</vt:lpstr>
      <vt:lpstr>4. 분석 결과 - 고용구조와 매출액의 관계 분석 및 회귀 모델링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동관 남</dc:creator>
  <cp:lastModifiedBy>동관 남</cp:lastModifiedBy>
  <cp:revision>3</cp:revision>
  <dcterms:created xsi:type="dcterms:W3CDTF">2025-09-17T10:28:58Z</dcterms:created>
  <dcterms:modified xsi:type="dcterms:W3CDTF">2025-12-07T09:33:42Z</dcterms:modified>
</cp:coreProperties>
</file>