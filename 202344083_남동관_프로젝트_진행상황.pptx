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21861-8526-585D-03DE-CADDF9EF8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28DAAE-B1F7-F9AF-7586-83D591F48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1D043-8668-726F-1F87-957304D0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AF6EB-6F8B-D1CA-9027-C918F52F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5C754-3211-7E63-F116-DBAF652F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D2537-FDF1-453A-00A6-AB7A8A51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731FF-D1B4-E28A-0035-C5E78E3C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D300F-1196-230B-B950-9D5DA831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A92A9-DE9F-0527-4A10-46D769D2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2B456-623B-839A-1A2B-3B72CE20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2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7709-83EC-F444-70B4-F5774484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E38CF-41EC-C7EA-ABF3-BAB96414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BA195-F31B-1C02-2FA7-19CC64AE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7D00-99E4-8C2D-3BD4-822AB61F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63A5C6-1F95-49C3-1123-A6E98D4B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50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6D364-E357-645C-8F27-FEA5EEFD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CAE04-3257-A83C-4EF6-075E240A7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B78C77-6405-7AD9-FFB1-72A951CF7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4CA59E-3BD4-FCD0-FD18-BC8081D0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521A4-E28C-472A-1FA3-B6FB6DB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1BAEB1-693C-51AC-579C-9831F0FD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2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EA5D9-C150-A74A-A119-3F4827C6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217F4C-5D5F-27A7-DB06-BA120BC2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6F0132-00A7-3F10-B8F2-D202D819F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A6B2C7-375B-C1F1-39D7-3F125480D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66212C-E963-D002-2DAF-336D27E03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55FB34-6837-642A-0D2A-74306677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F40523-E5A5-7661-433E-A776ACAB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F5FFB7-6DD4-D436-5C8E-BD48A629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5B694-0D8F-8FC9-209B-ADB44BED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A33A55-E061-72C8-9C5A-A259B917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C8C53A-E271-1F08-6D19-4F93683D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CAADAA-FC80-1B27-B4AE-B39BAAB8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89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1B5540-F77D-7D20-40B7-1B3374F7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915BA5-42D2-1ED7-3D23-7FD5A1E2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8331D-951D-28E9-30DB-25D5539A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5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7ED9D-49B1-FE7D-2234-0ED1CCFC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344D2-E992-6944-C46A-D7316613C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30E3A-D5F8-355D-C143-5D7F2BF05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2DEFE8-8ECC-2332-56D4-E6A610A3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AF100-28F8-202C-704B-3C7D91B6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D82251-81F6-9417-E047-DF0F8DA2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94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0CA54-86F3-C566-FFC7-A6512843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924619-6371-7A70-D887-D3E843F6D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36DFFD-389E-1B8C-7FB3-6973B3B4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33DBE-CA18-3BA4-7564-BE58D5EE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0BCE26-19D9-CC68-90F3-AF4219A9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724A7-45CE-48B8-94ED-BE4883AC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36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A137B-BE06-798C-EBAA-33286319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763503-ED2E-2CCE-09B9-49F828E3E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3ADCF0-B803-0B3B-1727-0FBF0E64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E53E-82D6-0DEA-B391-C30014E2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9870C-C377-2B98-1AEB-ED225460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7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A7C77D-0FE3-8005-4897-F4CFE1C0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CFC691-83BC-D698-23A6-3901040E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15A83-178A-A870-50FF-AAEA7563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FD495-F7D9-F34F-8046-C571CC6F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1AFF7-3DD2-899E-70AA-89D7E93D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36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95133-7866-C996-E5F1-B6392DB6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E611CD-A3EB-E17C-DE4F-C8C89DF5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7D74D-A800-4736-732D-B1D7D050C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FA53-58D3-44C0-B5DC-E4234B86059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91784-901A-FC5B-C944-6CB18F4B8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B831E-B7EC-FEAA-3ED2-89C61856A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6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art.fss.or.kr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4CCF7-DCBB-504A-6B1F-169DE23B0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315" y="1128848"/>
            <a:ext cx="10071370" cy="2387600"/>
          </a:xfrm>
        </p:spPr>
        <p:txBody>
          <a:bodyPr anchor="ctr">
            <a:normAutofit/>
          </a:bodyPr>
          <a:lstStyle/>
          <a:p>
            <a:r>
              <a:rPr lang="ko-KR" altLang="en-US" sz="4800"/>
              <a:t>고용구조와 재무성과의 관계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AF5C51-B5F2-F35E-02A1-AA12855A4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altLang="ko-KR"/>
              <a:t>202344083 </a:t>
            </a:r>
            <a:r>
              <a:rPr lang="ko-KR" altLang="en-US"/>
              <a:t>남동관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02FDA-2E33-2FC0-6923-17E7EAD867A8}"/>
              </a:ext>
            </a:extLst>
          </p:cNvPr>
          <p:cNvSpPr txBox="1"/>
          <p:nvPr/>
        </p:nvSpPr>
        <p:spPr>
          <a:xfrm>
            <a:off x="1459149" y="3094206"/>
            <a:ext cx="92737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/>
              <a:t>인하공업전문대학 컴퓨터정보과 </a:t>
            </a:r>
            <a:r>
              <a:rPr lang="en-US" altLang="ko-KR"/>
              <a:t>3</a:t>
            </a:r>
            <a:r>
              <a:rPr lang="ko-KR" altLang="en-US"/>
              <a:t>학년 </a:t>
            </a:r>
            <a:r>
              <a:rPr lang="en-US" altLang="ko-KR"/>
              <a:t>2</a:t>
            </a:r>
            <a:r>
              <a:rPr lang="ko-KR" altLang="en-US"/>
              <a:t>학기 빅데이터 프로젝트 진행상황</a:t>
            </a:r>
          </a:p>
        </p:txBody>
      </p:sp>
    </p:spTree>
    <p:extLst>
      <p:ext uri="{BB962C8B-B14F-4D97-AF65-F5344CB8AC3E}">
        <p14:creationId xmlns:p14="http://schemas.microsoft.com/office/powerpoint/2010/main" val="258196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940F6-27F2-773F-CE37-D403A840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분석할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52ED7-F237-E3C1-A3CC-E912202C9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정규직</a:t>
            </a:r>
            <a:r>
              <a:rPr lang="en-US" altLang="ko-KR" sz="2400"/>
              <a:t>/</a:t>
            </a:r>
            <a:r>
              <a:rPr lang="ko-KR" altLang="en-US" sz="2400"/>
              <a:t>계약직 비율과 재무성과의 관계 분석</a:t>
            </a:r>
            <a:endParaRPr lang="en-US" altLang="ko-KR" sz="2400"/>
          </a:p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성별 임금 격차와 재무성과의 관계 분석</a:t>
            </a:r>
            <a:endParaRPr lang="en-US" altLang="ko-KR" sz="2400"/>
          </a:p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평균 임금 증가율과 재무성과의 관계 분석</a:t>
            </a:r>
          </a:p>
        </p:txBody>
      </p:sp>
    </p:spTree>
    <p:extLst>
      <p:ext uri="{BB962C8B-B14F-4D97-AF65-F5344CB8AC3E}">
        <p14:creationId xmlns:p14="http://schemas.microsoft.com/office/powerpoint/2010/main" val="44166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2FEC-6045-5620-D0D5-44512E0E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23440-9043-7181-1D0B-AAF2F65C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사용할 데이터 및 프로젝트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88BBED-0C7D-8A4F-9251-2B9AB019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/>
              <a:t>DART Open API (</a:t>
            </a:r>
            <a:r>
              <a:rPr lang="en-US" altLang="ko-KR" sz="2400">
                <a:hlinkClick r:id="rId2"/>
              </a:rPr>
              <a:t>https://opendart.fss.or.kr/</a:t>
            </a:r>
            <a:r>
              <a:rPr lang="en-US" altLang="ko-KR" sz="240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/>
              <a:t>1. dart_fss </a:t>
            </a:r>
            <a:r>
              <a:rPr lang="ko-KR" altLang="en-US" sz="2000"/>
              <a:t>라이브러리를 이용하여</a:t>
            </a:r>
            <a:r>
              <a:rPr lang="en-US" altLang="ko-KR" sz="2000"/>
              <a:t> </a:t>
            </a:r>
            <a:r>
              <a:rPr lang="ko-KR" altLang="en-US" sz="2000"/>
              <a:t>코스피 기업들의 직원현황 및 재무정보 수집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2. pandas </a:t>
            </a:r>
            <a:r>
              <a:rPr lang="ko-KR" altLang="en-US" sz="2000"/>
              <a:t>라이브러리를 이용하여 데이터 정제 및 </a:t>
            </a:r>
            <a:r>
              <a:rPr lang="en-US" altLang="ko-KR" sz="2000"/>
              <a:t>csv </a:t>
            </a:r>
            <a:r>
              <a:rPr lang="ko-KR" altLang="en-US" sz="2000"/>
              <a:t>파일로 저장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3. scikit-learn </a:t>
            </a:r>
            <a:r>
              <a:rPr lang="ko-KR" altLang="en-US" sz="2000"/>
              <a:t>라이브러리를 이용하여 머신러닝 기반 회귀 분석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4. matplotlib </a:t>
            </a:r>
            <a:r>
              <a:rPr lang="ko-KR" altLang="en-US" sz="2000"/>
              <a:t>라이브러리를 이용하여 데이터 시각화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02020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BDA0F-3B08-BCB8-809F-D81E4C852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A59B8-4C83-4E89-9DA7-BF979D74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3. </a:t>
            </a:r>
            <a:r>
              <a:rPr lang="ko-KR" altLang="en-US" sz="3200"/>
              <a:t>코드 </a:t>
            </a:r>
            <a:r>
              <a:rPr lang="en-US" altLang="ko-KR" sz="3200"/>
              <a:t>– </a:t>
            </a:r>
            <a:r>
              <a:rPr lang="ko-KR" altLang="en-US" sz="3200"/>
              <a:t>라이브러리 설치 및 환경설정</a:t>
            </a:r>
            <a:r>
              <a:rPr lang="en-US" altLang="ko-KR" sz="3200"/>
              <a:t> </a:t>
            </a:r>
            <a:endParaRPr lang="ko-KR" altLang="en-US" sz="32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C78E41F-8576-9090-85AB-FCAE3EEAD150}"/>
              </a:ext>
            </a:extLst>
          </p:cNvPr>
          <p:cNvGrpSpPr/>
          <p:nvPr/>
        </p:nvGrpSpPr>
        <p:grpSpPr>
          <a:xfrm>
            <a:off x="3758119" y="2203315"/>
            <a:ext cx="4675762" cy="2996119"/>
            <a:chOff x="3735421" y="1964987"/>
            <a:chExt cx="4675762" cy="299611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F15092A-BEC9-4FA8-1038-508F47D34D26}"/>
                </a:ext>
              </a:extLst>
            </p:cNvPr>
            <p:cNvSpPr/>
            <p:nvPr/>
          </p:nvSpPr>
          <p:spPr>
            <a:xfrm>
              <a:off x="3735421" y="1964987"/>
              <a:ext cx="4675762" cy="2996119"/>
            </a:xfrm>
            <a:prstGeom prst="rect">
              <a:avLst/>
            </a:prstGeom>
            <a:solidFill>
              <a:srgbClr val="1F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A663567-BCEA-A90A-3CC6-F1949D599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5918" y="2157235"/>
              <a:ext cx="4220164" cy="25435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159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EFDF-B4E6-44C1-8828-2FF1A274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C71E3-8395-7D18-3E18-87B9F310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3. </a:t>
            </a:r>
            <a:r>
              <a:rPr lang="ko-KR" altLang="en-US" sz="3200"/>
              <a:t>코드 </a:t>
            </a:r>
            <a:r>
              <a:rPr lang="en-US" altLang="ko-KR" sz="3200"/>
              <a:t>– OpenDart </a:t>
            </a:r>
            <a:r>
              <a:rPr lang="ko-KR" altLang="en-US" sz="3200"/>
              <a:t>종목 코드 다운로드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75F6675-2653-6549-0B4A-E8171164DF3F}"/>
              </a:ext>
            </a:extLst>
          </p:cNvPr>
          <p:cNvGrpSpPr/>
          <p:nvPr/>
        </p:nvGrpSpPr>
        <p:grpSpPr>
          <a:xfrm>
            <a:off x="6096000" y="2213043"/>
            <a:ext cx="4779523" cy="3352800"/>
            <a:chOff x="5946843" y="1952017"/>
            <a:chExt cx="4779523" cy="33528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4329B56-290C-EF9A-DDF3-EC9B678E8F4E}"/>
                </a:ext>
              </a:extLst>
            </p:cNvPr>
            <p:cNvSpPr/>
            <p:nvPr/>
          </p:nvSpPr>
          <p:spPr>
            <a:xfrm>
              <a:off x="5946843" y="1952017"/>
              <a:ext cx="4779523" cy="3352800"/>
            </a:xfrm>
            <a:prstGeom prst="rect">
              <a:avLst/>
            </a:prstGeom>
            <a:solidFill>
              <a:srgbClr val="1F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0766789-0F3C-14CE-8011-53CFEF2E0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2132280"/>
              <a:ext cx="4467849" cy="294363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F9F17D1-5FF5-16DE-0F74-52B3E8591D06}"/>
              </a:ext>
            </a:extLst>
          </p:cNvPr>
          <p:cNvSpPr txBox="1"/>
          <p:nvPr/>
        </p:nvSpPr>
        <p:spPr>
          <a:xfrm>
            <a:off x="838200" y="2213043"/>
            <a:ext cx="494813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Open Dart API</a:t>
            </a:r>
            <a:r>
              <a:rPr lang="ko-KR" altLang="en-US"/>
              <a:t>를 활용하여 </a:t>
            </a:r>
            <a:br>
              <a:rPr lang="en-US" altLang="ko-KR"/>
            </a:br>
            <a:r>
              <a:rPr lang="en-US" altLang="ko-KR"/>
              <a:t>Dart</a:t>
            </a:r>
            <a:r>
              <a:rPr lang="ko-KR" altLang="en-US"/>
              <a:t>에 등록되어있는 모든 법인 정보 다운로드</a:t>
            </a:r>
          </a:p>
        </p:txBody>
      </p:sp>
    </p:spTree>
    <p:extLst>
      <p:ext uri="{BB962C8B-B14F-4D97-AF65-F5344CB8AC3E}">
        <p14:creationId xmlns:p14="http://schemas.microsoft.com/office/powerpoint/2010/main" val="97164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353E-A6D6-50D5-3235-294C9BE3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9E4E5-F523-8770-4376-42DC74B3C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3. </a:t>
            </a:r>
            <a:r>
              <a:rPr lang="ko-KR" altLang="en-US" sz="3200"/>
              <a:t>코드 </a:t>
            </a:r>
            <a:r>
              <a:rPr lang="en-US" altLang="ko-KR" sz="3200"/>
              <a:t>– </a:t>
            </a:r>
            <a:r>
              <a:rPr lang="ko-KR" altLang="en-US" sz="3200"/>
              <a:t>한국거래소 코스피 상장종목 목록 다운로드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E4CBFFB-070F-AB88-83E6-C45B0F7C73C4}"/>
              </a:ext>
            </a:extLst>
          </p:cNvPr>
          <p:cNvGrpSpPr/>
          <p:nvPr/>
        </p:nvGrpSpPr>
        <p:grpSpPr>
          <a:xfrm>
            <a:off x="6096000" y="2023353"/>
            <a:ext cx="5745804" cy="3865123"/>
            <a:chOff x="3210128" y="2114145"/>
            <a:chExt cx="5745804" cy="386512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206B467-759B-E78B-6EE2-2DC904F25646}"/>
                </a:ext>
              </a:extLst>
            </p:cNvPr>
            <p:cNvSpPr/>
            <p:nvPr/>
          </p:nvSpPr>
          <p:spPr>
            <a:xfrm>
              <a:off x="3210128" y="2114145"/>
              <a:ext cx="5745804" cy="3865123"/>
            </a:xfrm>
            <a:prstGeom prst="rect">
              <a:avLst/>
            </a:prstGeom>
            <a:solidFill>
              <a:srgbClr val="1F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BB61F4F-44EE-A4D9-D7A8-39E1C196E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42891" y="2207420"/>
              <a:ext cx="5506218" cy="3610479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B9A09C7-E825-09D8-FB2D-70BDFF767E66}"/>
              </a:ext>
            </a:extLst>
          </p:cNvPr>
          <p:cNvSpPr txBox="1"/>
          <p:nvPr/>
        </p:nvSpPr>
        <p:spPr>
          <a:xfrm>
            <a:off x="838200" y="2023353"/>
            <a:ext cx="4948136" cy="8697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한국거래소의 상장법인목록 파일을 통해 </a:t>
            </a:r>
            <a:br>
              <a:rPr lang="en-US" altLang="ko-KR"/>
            </a:br>
            <a:r>
              <a:rPr lang="en-US" altLang="ko-KR"/>
              <a:t>2014</a:t>
            </a:r>
            <a:r>
              <a:rPr lang="ko-KR" altLang="en-US"/>
              <a:t>년 이전에 코스피에 상장된 법인 추출</a:t>
            </a:r>
          </a:p>
        </p:txBody>
      </p:sp>
    </p:spTree>
    <p:extLst>
      <p:ext uri="{BB962C8B-B14F-4D97-AF65-F5344CB8AC3E}">
        <p14:creationId xmlns:p14="http://schemas.microsoft.com/office/powerpoint/2010/main" val="144590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B1B5-24AA-06B0-1849-CBAB34C3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CB5D0-FF7D-1C8D-4B78-87903B10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3. </a:t>
            </a:r>
            <a:r>
              <a:rPr lang="ko-KR" altLang="en-US" sz="3200"/>
              <a:t>코드 </a:t>
            </a:r>
            <a:r>
              <a:rPr lang="en-US" altLang="ko-KR" sz="3200"/>
              <a:t>– </a:t>
            </a:r>
            <a:r>
              <a:rPr lang="ko-KR" altLang="en-US" sz="3200"/>
              <a:t>한국거래소</a:t>
            </a:r>
            <a:r>
              <a:rPr lang="en-US" altLang="ko-KR" sz="3200"/>
              <a:t>, Dart </a:t>
            </a:r>
            <a:r>
              <a:rPr lang="ko-KR" altLang="en-US" sz="3200"/>
              <a:t>종목 코드 매칭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7CCC3A-AF4E-B132-9093-6B184F2B3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768837" cy="4952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EBAE1E-61FA-A93C-2521-1170DD7C0A04}"/>
              </a:ext>
            </a:extLst>
          </p:cNvPr>
          <p:cNvSpPr txBox="1"/>
          <p:nvPr/>
        </p:nvSpPr>
        <p:spPr>
          <a:xfrm>
            <a:off x="838200" y="1690688"/>
            <a:ext cx="4948136" cy="25317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한국거래소와 </a:t>
            </a:r>
            <a:r>
              <a:rPr lang="en-US" altLang="ko-KR"/>
              <a:t>Dart</a:t>
            </a:r>
            <a:r>
              <a:rPr lang="ko-KR" altLang="en-US"/>
              <a:t>의 종목코드가 다른 경우가 있어 추가작업을 통해 매칭 후 </a:t>
            </a:r>
            <a:r>
              <a:rPr lang="en-US" altLang="ko-KR"/>
              <a:t>csv </a:t>
            </a:r>
            <a:r>
              <a:rPr lang="ko-KR" altLang="en-US"/>
              <a:t>저장</a:t>
            </a:r>
            <a:endParaRPr lang="en-US" altLang="ko-KR"/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Csv</a:t>
            </a:r>
            <a:r>
              <a:rPr lang="ko-KR" altLang="en-US"/>
              <a:t>에 저장될 때 종목코드 앞의 </a:t>
            </a:r>
            <a:r>
              <a:rPr lang="en-US" altLang="ko-KR"/>
              <a:t>’00’</a:t>
            </a:r>
            <a:r>
              <a:rPr lang="ko-KR" altLang="en-US"/>
              <a:t>이 사라지는 경우가 있어 </a:t>
            </a:r>
            <a:r>
              <a:rPr lang="en-US" altLang="ko-KR"/>
              <a:t>zfill</a:t>
            </a:r>
            <a:r>
              <a:rPr lang="ko-KR" altLang="en-US"/>
              <a:t>과 </a:t>
            </a:r>
            <a:r>
              <a:rPr lang="en-US" altLang="ko-KR"/>
              <a:t>apply(lambda)</a:t>
            </a:r>
            <a:r>
              <a:rPr lang="ko-KR" altLang="en-US"/>
              <a:t>를 통해 </a:t>
            </a:r>
            <a:r>
              <a:rPr lang="en-US" altLang="ko-KR"/>
              <a:t>“</a:t>
            </a:r>
            <a:r>
              <a:rPr lang="ko-KR" altLang="en-US"/>
              <a:t>종목코드</a:t>
            </a:r>
            <a:r>
              <a:rPr lang="en-US" altLang="ko-KR"/>
              <a:t>8</a:t>
            </a:r>
            <a:r>
              <a:rPr lang="ko-KR" altLang="en-US"/>
              <a:t>자리</a:t>
            </a:r>
            <a:r>
              <a:rPr lang="en-US" altLang="ko-KR"/>
              <a:t>” </a:t>
            </a:r>
            <a:r>
              <a:rPr lang="ko-KR" altLang="en-US"/>
              <a:t>유지하여 저장</a:t>
            </a:r>
          </a:p>
        </p:txBody>
      </p:sp>
    </p:spTree>
    <p:extLst>
      <p:ext uri="{BB962C8B-B14F-4D97-AF65-F5344CB8AC3E}">
        <p14:creationId xmlns:p14="http://schemas.microsoft.com/office/powerpoint/2010/main" val="328790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109C-60C5-6B4F-DD37-BB1B63D5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8C995-4422-E1E8-DC92-3E702804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3. </a:t>
            </a:r>
            <a:r>
              <a:rPr lang="ko-KR" altLang="en-US" sz="3200"/>
              <a:t>코드 </a:t>
            </a:r>
            <a:r>
              <a:rPr lang="en-US" altLang="ko-KR" sz="3200"/>
              <a:t>– </a:t>
            </a:r>
            <a:r>
              <a:rPr lang="ko-KR" altLang="en-US" sz="3200"/>
              <a:t>직원 현황 데이터 수집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40974CC-B316-B615-0DAE-7638154C6858}"/>
              </a:ext>
            </a:extLst>
          </p:cNvPr>
          <p:cNvGrpSpPr/>
          <p:nvPr/>
        </p:nvGrpSpPr>
        <p:grpSpPr>
          <a:xfrm>
            <a:off x="228601" y="1705586"/>
            <a:ext cx="11631036" cy="4787289"/>
            <a:chOff x="280482" y="1690688"/>
            <a:chExt cx="11631036" cy="478728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8FC018A-6B94-7F89-DA3B-BB05D96C8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482" y="1690689"/>
              <a:ext cx="3816388" cy="179829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C1D33F1-826E-DC5C-1B39-1B53261B2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6870" y="1690688"/>
              <a:ext cx="3839935" cy="478728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4041F68-ACE8-363E-E441-A137D1987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6805" y="5242142"/>
              <a:ext cx="3974713" cy="12358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857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53042-85DA-85EB-313A-7461C4C9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A0834-4E4C-7737-7CB2-F66E00A1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3. </a:t>
            </a:r>
            <a:r>
              <a:rPr lang="ko-KR" altLang="en-US" sz="3200"/>
              <a:t>코드 </a:t>
            </a:r>
            <a:r>
              <a:rPr lang="en-US" altLang="ko-KR" sz="3200"/>
              <a:t>– </a:t>
            </a:r>
            <a:r>
              <a:rPr lang="ko-KR" altLang="en-US" sz="3200"/>
              <a:t>직원 현황 데이터 정제 </a:t>
            </a:r>
            <a:r>
              <a:rPr lang="en-US" altLang="ko-KR" sz="3200"/>
              <a:t>– </a:t>
            </a:r>
            <a:r>
              <a:rPr lang="ko-KR" altLang="en-US" sz="3200"/>
              <a:t>사업부문 통합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A95C70-F175-2DDC-8231-5EEED9739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108" y="1895261"/>
            <a:ext cx="5134692" cy="3067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D68C5C-65BF-FAC2-D502-35B5767A0395}"/>
              </a:ext>
            </a:extLst>
          </p:cNvPr>
          <p:cNvSpPr txBox="1"/>
          <p:nvPr/>
        </p:nvSpPr>
        <p:spPr>
          <a:xfrm>
            <a:off x="838200" y="1895261"/>
            <a:ext cx="5257800" cy="12852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사업부문마다 직원 현황을 따로 기재하는 법인이 존재하여 사업부문을 제외한 모든 컬럼을 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그룹하는 방식으로 정규직</a:t>
            </a:r>
            <a:r>
              <a:rPr lang="en-US" altLang="ko-KR"/>
              <a:t>, </a:t>
            </a:r>
            <a:r>
              <a:rPr lang="ko-KR" altLang="en-US"/>
              <a:t>계약직</a:t>
            </a:r>
            <a:r>
              <a:rPr lang="en-US" altLang="ko-KR"/>
              <a:t>, </a:t>
            </a:r>
            <a:r>
              <a:rPr lang="ko-KR" altLang="en-US"/>
              <a:t>총급여 합산</a:t>
            </a:r>
          </a:p>
        </p:txBody>
      </p:sp>
    </p:spTree>
    <p:extLst>
      <p:ext uri="{BB962C8B-B14F-4D97-AF65-F5344CB8AC3E}">
        <p14:creationId xmlns:p14="http://schemas.microsoft.com/office/powerpoint/2010/main" val="220413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8171-243D-188F-2EDA-D9018327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A5168-FE06-C01A-C71C-022ACB79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3. </a:t>
            </a:r>
            <a:r>
              <a:rPr lang="ko-KR" altLang="en-US" sz="3200"/>
              <a:t>코드 </a:t>
            </a:r>
            <a:r>
              <a:rPr lang="en-US" altLang="ko-KR" sz="3200"/>
              <a:t>– </a:t>
            </a:r>
            <a:r>
              <a:rPr lang="ko-KR" altLang="en-US" sz="3200"/>
              <a:t>직원 현황 데이터 정제 </a:t>
            </a:r>
            <a:r>
              <a:rPr lang="en-US" altLang="ko-KR" sz="3200"/>
              <a:t>– </a:t>
            </a:r>
            <a:r>
              <a:rPr lang="ko-KR" altLang="en-US" sz="3200"/>
              <a:t>상장 유지 종목 추출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0594CC-C018-17CF-F682-88B43C2C8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529" y="1895261"/>
            <a:ext cx="5163271" cy="3858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9AF1DE-8076-1519-C5E5-A7D807F5D154}"/>
              </a:ext>
            </a:extLst>
          </p:cNvPr>
          <p:cNvSpPr txBox="1"/>
          <p:nvPr/>
        </p:nvSpPr>
        <p:spPr>
          <a:xfrm>
            <a:off x="838200" y="1895261"/>
            <a:ext cx="5257800" cy="869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2014</a:t>
            </a:r>
            <a:r>
              <a:rPr lang="ko-KR" altLang="en-US"/>
              <a:t>년부터 </a:t>
            </a:r>
            <a:r>
              <a:rPr lang="en-US" altLang="ko-KR"/>
              <a:t>2024</a:t>
            </a:r>
            <a:r>
              <a:rPr lang="ko-KR" altLang="en-US"/>
              <a:t>년까지 상장이 유지되어 있으며 반기보고서와 사업보고서를 제출한 법인 추출</a:t>
            </a:r>
          </a:p>
        </p:txBody>
      </p:sp>
    </p:spTree>
    <p:extLst>
      <p:ext uri="{BB962C8B-B14F-4D97-AF65-F5344CB8AC3E}">
        <p14:creationId xmlns:p14="http://schemas.microsoft.com/office/powerpoint/2010/main" val="193178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46A3-00B9-3907-3067-171B18F7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AEBB8-5FF5-64E0-F7FF-8D506F8C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4. </a:t>
            </a:r>
            <a:r>
              <a:rPr lang="ko-KR" altLang="en-US" sz="3200"/>
              <a:t>직원 현황 데이터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836618-A0DD-0C24-39D2-AE5D239B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760" y="0"/>
            <a:ext cx="4131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07F8F5-B4B7-13CA-08AD-27DCABAE3EC8}"/>
              </a:ext>
            </a:extLst>
          </p:cNvPr>
          <p:cNvSpPr txBox="1"/>
          <p:nvPr/>
        </p:nvSpPr>
        <p:spPr>
          <a:xfrm>
            <a:off x="838200" y="1895261"/>
            <a:ext cx="5257800" cy="13433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/>
              <a:t>일일 </a:t>
            </a:r>
            <a:r>
              <a:rPr lang="en-US" altLang="ko-KR" sz="1400"/>
              <a:t>API </a:t>
            </a:r>
            <a:r>
              <a:rPr lang="ko-KR" altLang="en-US" sz="1400"/>
              <a:t>사용량 제한이 있어 매일 데이터 수집중입니다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이후 재무데이터도 같은 방식으로 추출하여 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머신러닝 및 시각화 진행 예정입니다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91304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296</Words>
  <Application>Microsoft Office PowerPoint</Application>
  <PresentationFormat>와이드스크린</PresentationFormat>
  <Paragraphs>33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고용구조와 재무성과의 관계 분석</vt:lpstr>
      <vt:lpstr>1. 분석할 내용</vt:lpstr>
      <vt:lpstr>2. 사용할 데이터 및 프로젝트 범위</vt:lpstr>
      <vt:lpstr>3. 코드 – 라이브러리 설치 및 환경설정 </vt:lpstr>
      <vt:lpstr>3. 코드 – OpenDart 종목 코드 다운로드</vt:lpstr>
      <vt:lpstr>3. 코드 – 한국거래소 코스피 상장종목 목록 다운로드</vt:lpstr>
      <vt:lpstr>3. 코드 – 한국거래소, Dart 종목 코드 매칭</vt:lpstr>
      <vt:lpstr>3. 코드 – 직원 현황 데이터 수집</vt:lpstr>
      <vt:lpstr>3. 코드 – 직원 현황 데이터 정제 – 사업부문 통합</vt:lpstr>
      <vt:lpstr>3. 코드 – 직원 현황 데이터 정제 – 상장 유지 종목 추출</vt:lpstr>
      <vt:lpstr>4. 직원 현황 데이터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동관 남</dc:creator>
  <cp:lastModifiedBy>동관 남</cp:lastModifiedBy>
  <cp:revision>2</cp:revision>
  <dcterms:created xsi:type="dcterms:W3CDTF">2025-09-17T10:28:58Z</dcterms:created>
  <dcterms:modified xsi:type="dcterms:W3CDTF">2025-11-14T12:39:32Z</dcterms:modified>
</cp:coreProperties>
</file>